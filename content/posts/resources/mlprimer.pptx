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2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26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19.xml" ContentType="application/vnd.openxmlformats-officedocument.presentationml.notes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1853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43591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499724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52501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02754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07172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7796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3921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60600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0DF8A3-73B3-F816-7B47-98420CF58B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060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1537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490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5F6B06-40BF-D9F9-8FD7-EFE08618FB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956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47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479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115083-282D-08EE-1937-FA18779976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198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661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086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0EEEF-ED79-3978-D5A6-E4F0BCCF9B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384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5804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885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58930-281C-12EE-71A4-DA704C9CDD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063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339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548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7D7E52-AE47-F61F-44DB-6949780632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430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1270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901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735862-DDF8-D4D4-4FAE-07EACB689B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9893D-B4DC-AE32-0A95-F4CDB18350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464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5934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625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DE3755-652C-0803-2019-0ACB4F32CF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163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3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892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3E56-7A61-980A-6E8D-B881B64E13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23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448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96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D10675-3750-ABE2-259F-412A6B5BF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840B6-DD52-325E-4660-CBB63F2F2F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869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707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2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4D725B-38DC-35A3-7751-991DEBDD86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381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83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798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8C7E5-8ACF-88EE-B54A-19122E168B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117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789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65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79D4-4B08-7652-2A71-710802D51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6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406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818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CB875C-9511-6D97-2842-B07B6673A7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261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550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9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65DEED-1B9E-6688-9D02-246762E7CC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113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5219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335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5CDB49-7CBB-CB96-DDDC-C2A32FB141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804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7181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03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3E4C27-F0A7-C117-D202-94934B13B8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034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510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337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B4B0F9-CFBB-A8EA-2D02-1CDA52E423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069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620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142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921DA4-6EB2-BAD1-33EB-C98CF9ED10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17C46D-CE3D-7FF7-4D15-03DF760942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107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9878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079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D9A2E4-A9AB-915F-61BB-C1BDB0AC0B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72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81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619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302047-914A-C8DB-E2AC-02B3B962FF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08E52C-F012-16C3-A32C-EF465E3EBA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81767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855445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367245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133679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20064251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7178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52833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39366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38377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5342074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21611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05503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01667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0552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2118273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0726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5615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30671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5221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10990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4330038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99157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73224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87200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70917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307833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51000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74153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24712906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403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730909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51375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7314187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07070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83484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82183141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74903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966072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50539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6695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891667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2269190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69971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406172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937819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44432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81088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3233428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7805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934941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4605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70170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9021466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05519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087850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36154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086753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5452933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93065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21089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876079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69616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6852446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Field_of_study" TargetMode="External"/><Relationship Id="rId4" Type="http://schemas.openxmlformats.org/officeDocument/2006/relationships/hyperlink" Target="https://en.wikipedia.org/wiki/Artificial_intelligence" TargetMode="External"/><Relationship Id="rId5" Type="http://schemas.openxmlformats.org/officeDocument/2006/relationships/hyperlink" Target="https://en.wikipedia.org/wiki/Computational_statistics" TargetMode="External"/><Relationship Id="rId6" Type="http://schemas.openxmlformats.org/officeDocument/2006/relationships/hyperlink" Target="https://en.wikipedia.org/wiki/Data" TargetMode="External"/><Relationship Id="rId7" Type="http://schemas.openxmlformats.org/officeDocument/2006/relationships/hyperlink" Target="https://en.wikipedia.org/wiki/Generalise" TargetMode="External"/><Relationship Id="rId8" Type="http://schemas.openxmlformats.org/officeDocument/2006/relationships/hyperlink" Target="https://en.wikipedia.org/wiki/Task_(computing)" TargetMode="External"/><Relationship Id="rId9" Type="http://schemas.openxmlformats.org/officeDocument/2006/relationships/hyperlink" Target="https://en.wikipedia.org/wiki/Machine_code" TargetMode="External"/><Relationship Id="rId10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wikipedia.org/wiki/Field_of_study" TargetMode="External"/><Relationship Id="rId4" Type="http://schemas.openxmlformats.org/officeDocument/2006/relationships/hyperlink" Target="https://en.wikipedia.org/wiki/Artificial_intelligence" TargetMode="External"/><Relationship Id="rId5" Type="http://schemas.openxmlformats.org/officeDocument/2006/relationships/hyperlink" Target="https://en.wikipedia.org/wiki/Computational_statistics" TargetMode="External"/><Relationship Id="rId6" Type="http://schemas.openxmlformats.org/officeDocument/2006/relationships/hyperlink" Target="https://en.wikipedia.org/wiki/Data" TargetMode="External"/><Relationship Id="rId7" Type="http://schemas.openxmlformats.org/officeDocument/2006/relationships/hyperlink" Target="https://en.wikipedia.org/wiki/Generalise" TargetMode="External"/><Relationship Id="rId8" Type="http://schemas.openxmlformats.org/officeDocument/2006/relationships/hyperlink" Target="https://en.wikipedia.org/wiki/Task_(computing)" TargetMode="External"/><Relationship Id="rId9" Type="http://schemas.openxmlformats.org/officeDocument/2006/relationships/hyperlink" Target="https://en.wikipedia.org/wiki/Machine_code" TargetMode="External"/><Relationship Id="rId10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1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2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3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hyperlink" Target="https://www.linkedin.com/posts/arduino_samuel-alexander-built-an-electronic-paddle-activity-7391276338155778048-mYGe" TargetMode="External"/><Relationship Id="rId5" Type="http://schemas.openxmlformats.org/officeDocument/2006/relationships/image" Target="../media/image23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Relationship Id="rId4" Type="http://schemas.openxmlformats.org/officeDocument/2006/relationships/image" Target="../media/image25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323932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A Machine Learning Primer</a:t>
            </a:r>
            <a:br>
              <a:rPr lang="en-US"/>
            </a:br>
            <a:r>
              <a:rPr lang="en-US" sz="3600" i="1"/>
              <a:t>with examples</a:t>
            </a:r>
            <a:endParaRPr lang="en-US"/>
          </a:p>
        </p:txBody>
      </p:sp>
      <p:sp>
        <p:nvSpPr>
          <p:cNvPr id="18772782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06AF57-0720-673A-9A5E-D35893EDE999}" type="slidenum">
              <a:rPr lang="en-US"/>
              <a:t/>
            </a:fld>
            <a:endParaRPr/>
          </a:p>
        </p:txBody>
      </p:sp>
      <p:sp>
        <p:nvSpPr>
          <p:cNvPr id="7144583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sz="1600" b="1"/>
              <a:t>Nikhil Kapila | nkapila.me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822999" name="Title 1"/>
          <p:cNvSpPr>
            <a:spLocks noGrp="1"/>
          </p:cNvSpPr>
          <p:nvPr>
            <p:ph type="title"/>
          </p:nvPr>
        </p:nvSpPr>
        <p:spPr bwMode="auto">
          <a:xfrm>
            <a:off x="666793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What is today’s session about?</a:t>
            </a:r>
            <a:endParaRPr/>
          </a:p>
        </p:txBody>
      </p:sp>
      <p:sp>
        <p:nvSpPr>
          <p:cNvPr id="108806439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66793" y="1629220"/>
            <a:ext cx="6487052" cy="7245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buFont typeface="Arial"/>
              <a:buChar char="–"/>
              <a:defRPr/>
            </a:pPr>
            <a:r>
              <a:rPr sz="3600"/>
              <a:t> Give you an intuition about ML that you can get started on </a:t>
            </a:r>
            <a:r>
              <a:rPr sz="3600"/>
              <a:t>your ML journey.</a:t>
            </a:r>
            <a:endParaRPr sz="16000"/>
          </a:p>
        </p:txBody>
      </p:sp>
      <p:sp>
        <p:nvSpPr>
          <p:cNvPr id="16965108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8917297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8F94082-48BD-DFAF-E3C9-5F574A2DBB4A}" type="slidenum">
              <a:rPr lang="en-US"/>
              <a:t/>
            </a:fld>
            <a:endParaRPr lang="en-US"/>
          </a:p>
        </p:txBody>
      </p:sp>
      <p:sp>
        <p:nvSpPr>
          <p:cNvPr id="1411987533" name="Title 1"/>
          <p:cNvSpPr>
            <a:spLocks noGrp="1"/>
          </p:cNvSpPr>
          <p:nvPr/>
        </p:nvSpPr>
        <p:spPr bwMode="auto">
          <a:xfrm flipH="0" flipV="0">
            <a:off x="666793" y="3910745"/>
            <a:ext cx="10515600" cy="1055443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What’s it not about?</a:t>
            </a:r>
            <a:endParaRPr/>
          </a:p>
        </p:txBody>
      </p:sp>
      <p:sp>
        <p:nvSpPr>
          <p:cNvPr id="615130592" name="Content Placeholder 2"/>
          <p:cNvSpPr>
            <a:spLocks noGrp="1"/>
          </p:cNvSpPr>
          <p:nvPr/>
        </p:nvSpPr>
        <p:spPr bwMode="auto">
          <a:xfrm flipH="0" flipV="0">
            <a:off x="752496" y="4966188"/>
            <a:ext cx="6254143" cy="110764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–"/>
              <a:defRPr/>
            </a:pPr>
            <a:r>
              <a:rPr sz="2500" u="sng"/>
              <a:t>Advanced discussion of LLM/DL architectures, GenAI hype</a:t>
            </a:r>
            <a:r>
              <a:rPr sz="2500" u="sng"/>
              <a:t>/slop/trash</a:t>
            </a:r>
            <a:endParaRPr sz="2500" u="sng"/>
          </a:p>
        </p:txBody>
      </p:sp>
      <p:sp>
        <p:nvSpPr>
          <p:cNvPr id="9038610" name="Content Placeholder 2"/>
          <p:cNvSpPr>
            <a:spLocks noGrp="1"/>
          </p:cNvSpPr>
          <p:nvPr/>
        </p:nvSpPr>
        <p:spPr bwMode="auto">
          <a:xfrm flipH="0" flipV="0">
            <a:off x="666793" y="2522293"/>
            <a:ext cx="6425548" cy="90670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–"/>
              <a:defRPr/>
            </a:pPr>
            <a:r>
              <a:rPr sz="2500"/>
              <a:t> Enough intuition so you can understand the workshop.</a:t>
            </a:r>
            <a:endParaRPr sz="2500"/>
          </a:p>
        </p:txBody>
      </p:sp>
      <p:pic>
        <p:nvPicPr>
          <p:cNvPr id="12140919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14141" y="1690687"/>
            <a:ext cx="6038578" cy="4319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06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8806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0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98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1987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1987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3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513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88064398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50" autoRev="1" fill="remove"/>
                                        <p:tgtEl>
                                          <p:spTgt spid="6151305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" dur="250" autoRev="1" fill="remove"/>
                                        <p:tgtEl>
                                          <p:spTgt spid="6151305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250" autoRev="1" fill="remove"/>
                                        <p:tgtEl>
                                          <p:spTgt spid="6151305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" dur="250" autoRev="1" fill="remove"/>
                                        <p:tgtEl>
                                          <p:spTgt spid="6151305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806439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8133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66793" y="310172"/>
            <a:ext cx="10515600" cy="926245"/>
          </a:xfrm>
        </p:spPr>
        <p:txBody>
          <a:bodyPr/>
          <a:lstStyle/>
          <a:p>
            <a:pPr>
              <a:defRPr/>
            </a:pPr>
            <a:r>
              <a:rPr/>
              <a:t>What is Machine Learning?</a:t>
            </a:r>
            <a:endParaRPr/>
          </a:p>
        </p:txBody>
      </p:sp>
      <p:sp>
        <p:nvSpPr>
          <p:cNvPr id="10724120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9876110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F0D523-D84B-E922-59F8-309AEB048B11}" type="slidenum">
              <a:rPr lang="en-US"/>
              <a:t/>
            </a:fld>
            <a:endParaRPr lang="en-US"/>
          </a:p>
        </p:txBody>
      </p:sp>
      <p:sp>
        <p:nvSpPr>
          <p:cNvPr id="429275175" name=""/>
          <p:cNvSpPr/>
          <p:nvPr/>
        </p:nvSpPr>
        <p:spPr bwMode="auto">
          <a:xfrm flipH="0" flipV="0">
            <a:off x="560798" y="4737921"/>
            <a:ext cx="11099824" cy="10976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Machine learning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(</a:t>
            </a:r>
            <a:r>
              <a:rPr sz="2200" b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ML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 is a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Field of study"/>
              </a:rPr>
              <a:t>field of study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in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Artificial intelligence"/>
              </a:rPr>
              <a:t>artificial intelligence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concerned with the development and study of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Computational statistics"/>
              </a:rPr>
              <a:t>statistical algorithms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that can learn from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6" tooltip="Data"/>
              </a:rPr>
              <a:t>data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and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7" tooltip="Generalise"/>
              </a:rPr>
              <a:t>generalise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to unseen data, and thus perform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8" tooltip="Task (computing)"/>
              </a:rPr>
              <a:t>tasks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without explicit 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  <a:hlinkClick r:id="rId9" tooltip="https://en.wikipedia.org/wiki/Machine_code"/>
              </a:rPr>
              <a:t>instructions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2200" u="none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026640027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4299093" y="1172307"/>
            <a:ext cx="3250998" cy="3250998"/>
          </a:xfrm>
          <a:prstGeom prst="rect">
            <a:avLst/>
          </a:prstGeom>
        </p:spPr>
      </p:pic>
      <p:sp>
        <p:nvSpPr>
          <p:cNvPr id="1382758978" name=""/>
          <p:cNvSpPr/>
          <p:nvPr/>
        </p:nvSpPr>
        <p:spPr bwMode="auto">
          <a:xfrm rot="0" flipH="0" flipV="0">
            <a:off x="7348979" y="1316691"/>
            <a:ext cx="2894852" cy="1428749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BORING!</a:t>
            </a:r>
            <a:endParaRPr/>
          </a:p>
        </p:txBody>
      </p:sp>
      <p:sp>
        <p:nvSpPr>
          <p:cNvPr id="2104693972" name=""/>
          <p:cNvSpPr/>
          <p:nvPr/>
        </p:nvSpPr>
        <p:spPr bwMode="auto">
          <a:xfrm rot="2792034" flipH="0" flipV="0">
            <a:off x="4629196" y="4077865"/>
            <a:ext cx="2394556" cy="2539999"/>
          </a:xfrm>
          <a:prstGeom prst="mathPlus">
            <a:avLst>
              <a:gd name="adj1" fmla="val 23520"/>
            </a:avLst>
          </a:prstGeom>
          <a:solidFill>
            <a:srgbClr val="C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927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64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5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8275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69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10469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165041" name=""/>
          <p:cNvSpPr/>
          <p:nvPr/>
        </p:nvSpPr>
        <p:spPr bwMode="auto">
          <a:xfrm rot="0" flipH="0" flipV="0">
            <a:off x="8442720" y="1298014"/>
            <a:ext cx="3669926" cy="1484779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909267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66793" y="310172"/>
            <a:ext cx="10515600" cy="926245"/>
          </a:xfrm>
        </p:spPr>
        <p:txBody>
          <a:bodyPr/>
          <a:lstStyle/>
          <a:p>
            <a:pPr>
              <a:defRPr/>
            </a:pPr>
            <a:r>
              <a:rPr/>
              <a:t>What is Machine Learning?</a:t>
            </a:r>
            <a:r>
              <a:rPr/>
              <a:t> </a:t>
            </a:r>
            <a:r>
              <a:rPr sz="3600" i="1"/>
              <a:t>An example</a:t>
            </a:r>
            <a:endParaRPr/>
          </a:p>
        </p:txBody>
      </p:sp>
      <p:sp>
        <p:nvSpPr>
          <p:cNvPr id="296497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8641846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45AD385-E52D-860D-BFED-138BC04F82BC}" type="slidenum">
              <a:rPr lang="en-US"/>
              <a:t/>
            </a:fld>
            <a:endParaRPr lang="en-US"/>
          </a:p>
        </p:txBody>
      </p:sp>
      <p:pic>
        <p:nvPicPr>
          <p:cNvPr id="1258388313" name=""/>
          <p:cNvPicPr>
            <a:picLocks noChangeAspect="1"/>
          </p:cNvPicPr>
          <p:nvPr/>
        </p:nvPicPr>
        <p:blipFill rotWithShape="1">
          <a:blip r:embed="rId3"/>
          <a:srcRect l="44546" t="0" r="34558" b="0"/>
          <a:stretch/>
        </p:blipFill>
        <p:spPr bwMode="auto">
          <a:xfrm flipH="0" flipV="0">
            <a:off x="666793" y="2003070"/>
            <a:ext cx="1392115" cy="3747623"/>
          </a:xfrm>
          <a:prstGeom prst="rect">
            <a:avLst/>
          </a:prstGeom>
        </p:spPr>
      </p:pic>
      <p:pic>
        <p:nvPicPr>
          <p:cNvPr id="14453928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254382" y="3597119"/>
            <a:ext cx="4114440" cy="2153574"/>
          </a:xfrm>
          <a:prstGeom prst="rect">
            <a:avLst/>
          </a:prstGeom>
        </p:spPr>
      </p:pic>
      <p:sp>
        <p:nvSpPr>
          <p:cNvPr id="751263783" name=""/>
          <p:cNvSpPr/>
          <p:nvPr/>
        </p:nvSpPr>
        <p:spPr bwMode="auto">
          <a:xfrm rot="0" flipH="0" flipV="0">
            <a:off x="1512115" y="1781479"/>
            <a:ext cx="2207235" cy="1338946"/>
          </a:xfrm>
          <a:prstGeom prst="irregularSeal1">
            <a:avLst/>
          </a:prstGeom>
          <a:solidFill>
            <a:srgbClr val="FFC000"/>
          </a:solidFill>
          <a:ln w="12699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284490901" name="Title 1"/>
          <p:cNvSpPr>
            <a:spLocks noGrp="1"/>
          </p:cNvSpPr>
          <p:nvPr/>
        </p:nvSpPr>
        <p:spPr bwMode="auto">
          <a:xfrm flipH="0" flipV="0">
            <a:off x="8667957" y="1533343"/>
            <a:ext cx="2015938" cy="98702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55000" lnSpcReduction="9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NAUGHTY BOY TAKE FINE~! </a:t>
            </a:r>
            <a:endParaRPr/>
          </a:p>
        </p:txBody>
      </p:sp>
      <p:pic>
        <p:nvPicPr>
          <p:cNvPr id="1173349364" name=""/>
          <p:cNvPicPr>
            <a:picLocks noChangeAspect="1"/>
          </p:cNvPicPr>
          <p:nvPr/>
        </p:nvPicPr>
        <p:blipFill rotWithShape="1">
          <a:blip r:embed="rId5"/>
          <a:srcRect l="4503" t="0" r="19043" b="0"/>
          <a:stretch/>
        </p:blipFill>
        <p:spPr bwMode="auto">
          <a:xfrm flipH="0" flipV="0">
            <a:off x="8324893" y="2942909"/>
            <a:ext cx="3610326" cy="3147385"/>
          </a:xfrm>
          <a:prstGeom prst="rect">
            <a:avLst/>
          </a:prstGeom>
        </p:spPr>
      </p:pic>
      <p:pic>
        <p:nvPicPr>
          <p:cNvPr id="1265761082" name=""/>
          <p:cNvPicPr>
            <a:picLocks noChangeAspect="1"/>
          </p:cNvPicPr>
          <p:nvPr/>
        </p:nvPicPr>
        <p:blipFill rotWithShape="1">
          <a:blip r:embed="rId6"/>
          <a:srcRect l="0" t="0" r="0" b="8009"/>
          <a:stretch/>
        </p:blipFill>
        <p:spPr bwMode="auto">
          <a:xfrm flipH="1" flipV="0">
            <a:off x="10743618" y="1420638"/>
            <a:ext cx="1220362" cy="1212432"/>
          </a:xfrm>
          <a:prstGeom prst="rect">
            <a:avLst/>
          </a:prstGeom>
        </p:spPr>
      </p:pic>
      <p:sp>
        <p:nvSpPr>
          <p:cNvPr id="2027474" name="Title 1"/>
          <p:cNvSpPr>
            <a:spLocks noGrp="1"/>
          </p:cNvSpPr>
          <p:nvPr/>
        </p:nvSpPr>
        <p:spPr bwMode="auto">
          <a:xfrm flipH="0" flipV="0">
            <a:off x="3295663" y="2889860"/>
            <a:ext cx="3671615" cy="98702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VROOOMMM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2000" fill="hold"/>
                                        <p:tgtEl>
                                          <p:spTgt spid="14453928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2027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38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5838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5838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26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126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126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34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334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334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76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65761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5761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16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3165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633165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9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49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8449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83612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66793" y="310172"/>
            <a:ext cx="10515600" cy="92624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i="1"/>
              <a:t>OK</a:t>
            </a:r>
            <a:r>
              <a:rPr/>
              <a:t> so you think you can keep up, human?</a:t>
            </a:r>
            <a:endParaRPr/>
          </a:p>
        </p:txBody>
      </p:sp>
      <p:sp>
        <p:nvSpPr>
          <p:cNvPr id="134005815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2300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5351231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BF4B935-F2FD-55C0-BBEA-211C24E5C5EB}" type="slidenum">
              <a:rPr lang="en-US"/>
              <a:t/>
            </a:fld>
            <a:endParaRPr lang="en-US"/>
          </a:p>
        </p:txBody>
      </p:sp>
      <p:pic>
        <p:nvPicPr>
          <p:cNvPr id="2097512428" name=""/>
          <p:cNvPicPr>
            <a:picLocks noChangeAspect="1"/>
          </p:cNvPicPr>
          <p:nvPr/>
        </p:nvPicPr>
        <p:blipFill rotWithShape="1">
          <a:blip r:embed="rId3"/>
          <a:srcRect l="44546" t="0" r="34558" b="0"/>
          <a:stretch/>
        </p:blipFill>
        <p:spPr bwMode="auto">
          <a:xfrm flipH="0" flipV="0">
            <a:off x="666792" y="2003069"/>
            <a:ext cx="1392114" cy="3747622"/>
          </a:xfrm>
          <a:prstGeom prst="rect">
            <a:avLst/>
          </a:prstGeom>
        </p:spPr>
      </p:pic>
      <p:sp>
        <p:nvSpPr>
          <p:cNvPr id="133790064" name=""/>
          <p:cNvSpPr/>
          <p:nvPr/>
        </p:nvSpPr>
        <p:spPr bwMode="auto">
          <a:xfrm rot="0" flipH="0" flipV="0">
            <a:off x="1512114" y="1781478"/>
            <a:ext cx="2207234" cy="1338945"/>
          </a:xfrm>
          <a:prstGeom prst="irregularSeal1">
            <a:avLst/>
          </a:prstGeom>
          <a:solidFill>
            <a:srgbClr val="FFC000"/>
          </a:solidFill>
          <a:ln w="12699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755666640" name=""/>
          <p:cNvSpPr txBox="1"/>
          <p:nvPr/>
        </p:nvSpPr>
        <p:spPr bwMode="auto">
          <a:xfrm rot="0" flipH="0" flipV="0">
            <a:off x="4716191" y="2660004"/>
            <a:ext cx="2759615" cy="853799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Checking if you’re on your phone</a:t>
            </a:r>
            <a:br>
              <a:rPr/>
            </a:br>
            <a:r>
              <a:rPr sz="1400"/>
              <a:t>(scrolling brainrot on Instagram)</a:t>
            </a:r>
            <a:endParaRPr/>
          </a:p>
        </p:txBody>
      </p:sp>
      <p:sp>
        <p:nvSpPr>
          <p:cNvPr id="41555794" name=""/>
          <p:cNvSpPr/>
          <p:nvPr/>
        </p:nvSpPr>
        <p:spPr bwMode="auto">
          <a:xfrm rot="0" flipH="0" flipV="0">
            <a:off x="9325146" y="1660316"/>
            <a:ext cx="2359464" cy="803671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2126614" name="Title 1"/>
          <p:cNvSpPr>
            <a:spLocks noGrp="1"/>
          </p:cNvSpPr>
          <p:nvPr/>
        </p:nvSpPr>
        <p:spPr bwMode="auto">
          <a:xfrm flipH="0" flipV="0">
            <a:off x="9381338" y="1781478"/>
            <a:ext cx="1603861" cy="5342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35000" lnSpcReduction="13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NAUGHTY BOY TAKE FINE~! </a:t>
            </a:r>
            <a:endParaRPr/>
          </a:p>
        </p:txBody>
      </p:sp>
      <p:pic>
        <p:nvPicPr>
          <p:cNvPr id="1170241743" name=""/>
          <p:cNvPicPr>
            <a:picLocks noChangeAspect="1"/>
          </p:cNvPicPr>
          <p:nvPr/>
        </p:nvPicPr>
        <p:blipFill rotWithShape="1">
          <a:blip r:embed="rId4"/>
          <a:srcRect l="4503" t="0" r="19043" b="0"/>
          <a:stretch/>
        </p:blipFill>
        <p:spPr bwMode="auto">
          <a:xfrm flipH="0" flipV="0">
            <a:off x="9751588" y="2710576"/>
            <a:ext cx="863362" cy="752655"/>
          </a:xfrm>
          <a:prstGeom prst="rect">
            <a:avLst/>
          </a:prstGeom>
        </p:spPr>
      </p:pic>
      <p:pic>
        <p:nvPicPr>
          <p:cNvPr id="42347883" name=""/>
          <p:cNvPicPr>
            <a:picLocks noChangeAspect="1"/>
          </p:cNvPicPr>
          <p:nvPr/>
        </p:nvPicPr>
        <p:blipFill rotWithShape="1">
          <a:blip r:embed="rId5"/>
          <a:srcRect l="0" t="0" r="0" b="8009"/>
          <a:stretch/>
        </p:blipFill>
        <p:spPr bwMode="auto">
          <a:xfrm flipH="1" flipV="0">
            <a:off x="10936029" y="1736682"/>
            <a:ext cx="655199" cy="650941"/>
          </a:xfrm>
          <a:prstGeom prst="rect">
            <a:avLst/>
          </a:prstGeom>
        </p:spPr>
      </p:pic>
      <p:cxnSp>
        <p:nvCxnSpPr>
          <p:cNvPr id="459223510" name=""/>
          <p:cNvCxnSpPr>
            <a:stCxn id="755666640" idx="3"/>
            <a:endCxn id="1170241743" idx="1"/>
          </p:cNvCxnSpPr>
          <p:nvPr/>
        </p:nvCxnSpPr>
        <p:spPr bwMode="auto">
          <a:xfrm rot="0" flipH="0" flipV="0">
            <a:off x="7475807" y="3086904"/>
            <a:ext cx="227578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11850" name=""/>
          <p:cNvSpPr txBox="1"/>
          <p:nvPr/>
        </p:nvSpPr>
        <p:spPr bwMode="auto">
          <a:xfrm rot="0" flipH="0" flipV="0">
            <a:off x="4703232" y="3690780"/>
            <a:ext cx="2772934" cy="640440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Checking if you don’t have a seat belt on</a:t>
            </a:r>
            <a:r>
              <a:rPr/>
              <a:t>?</a:t>
            </a:r>
            <a:endParaRPr/>
          </a:p>
        </p:txBody>
      </p:sp>
      <p:pic>
        <p:nvPicPr>
          <p:cNvPr id="2027042051" name=""/>
          <p:cNvPicPr>
            <a:picLocks noChangeAspect="1"/>
          </p:cNvPicPr>
          <p:nvPr/>
        </p:nvPicPr>
        <p:blipFill rotWithShape="1">
          <a:blip r:embed="rId4"/>
          <a:srcRect l="4503" t="0" r="19043" b="0"/>
          <a:stretch/>
        </p:blipFill>
        <p:spPr bwMode="auto">
          <a:xfrm flipH="0" flipV="0">
            <a:off x="9751588" y="3634673"/>
            <a:ext cx="863361" cy="752654"/>
          </a:xfrm>
          <a:prstGeom prst="rect">
            <a:avLst/>
          </a:prstGeom>
        </p:spPr>
      </p:pic>
      <p:cxnSp>
        <p:nvCxnSpPr>
          <p:cNvPr id="933419359" name=""/>
          <p:cNvCxnSpPr/>
          <p:nvPr/>
        </p:nvCxnSpPr>
        <p:spPr bwMode="auto">
          <a:xfrm rot="0" flipH="0" flipV="0">
            <a:off x="7476167" y="4011000"/>
            <a:ext cx="2275779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7476595" name=""/>
          <p:cNvSpPr txBox="1"/>
          <p:nvPr/>
        </p:nvSpPr>
        <p:spPr bwMode="auto">
          <a:xfrm rot="0" flipH="0" flipV="0">
            <a:off x="4731671" y="4549419"/>
            <a:ext cx="2788414" cy="640440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Checking if your license plate has expired?</a:t>
            </a:r>
            <a:endParaRPr/>
          </a:p>
        </p:txBody>
      </p:sp>
      <p:pic>
        <p:nvPicPr>
          <p:cNvPr id="732480469" name=""/>
          <p:cNvPicPr>
            <a:picLocks noChangeAspect="1"/>
          </p:cNvPicPr>
          <p:nvPr/>
        </p:nvPicPr>
        <p:blipFill rotWithShape="1">
          <a:blip r:embed="rId4"/>
          <a:srcRect l="4503" t="0" r="19043" b="0"/>
          <a:stretch/>
        </p:blipFill>
        <p:spPr bwMode="auto">
          <a:xfrm flipH="0" flipV="0">
            <a:off x="9780028" y="4493313"/>
            <a:ext cx="863361" cy="752654"/>
          </a:xfrm>
          <a:prstGeom prst="rect">
            <a:avLst/>
          </a:prstGeom>
        </p:spPr>
      </p:pic>
      <p:cxnSp>
        <p:nvCxnSpPr>
          <p:cNvPr id="1525513271" name=""/>
          <p:cNvCxnSpPr/>
          <p:nvPr/>
        </p:nvCxnSpPr>
        <p:spPr bwMode="auto">
          <a:xfrm rot="0" flipH="0" flipV="0">
            <a:off x="7504607" y="4869639"/>
            <a:ext cx="2275779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69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66793" y="310172"/>
            <a:ext cx="10515600" cy="92624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i="1"/>
              <a:t>OK</a:t>
            </a:r>
            <a:r>
              <a:rPr/>
              <a:t> so you think you can keep up, human?</a:t>
            </a:r>
            <a:endParaRPr/>
          </a:p>
        </p:txBody>
      </p:sp>
      <p:sp>
        <p:nvSpPr>
          <p:cNvPr id="5946550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2960230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B36320-50CC-9417-7F0E-B365062C6AC3}" type="slidenum">
              <a:rPr lang="en-US"/>
              <a:t/>
            </a:fld>
            <a:endParaRPr lang="en-US"/>
          </a:p>
        </p:txBody>
      </p:sp>
      <p:pic>
        <p:nvPicPr>
          <p:cNvPr id="576103062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403234" y="1850790"/>
            <a:ext cx="863361" cy="752654"/>
          </a:xfrm>
          <a:prstGeom prst="rect">
            <a:avLst/>
          </a:prstGeom>
        </p:spPr>
      </p:pic>
      <p:pic>
        <p:nvPicPr>
          <p:cNvPr id="2101894851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1523606" y="1850790"/>
            <a:ext cx="863361" cy="752654"/>
          </a:xfrm>
          <a:prstGeom prst="rect">
            <a:avLst/>
          </a:prstGeom>
        </p:spPr>
      </p:pic>
      <p:pic>
        <p:nvPicPr>
          <p:cNvPr id="612552566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2591368" y="1850790"/>
            <a:ext cx="863361" cy="752654"/>
          </a:xfrm>
          <a:prstGeom prst="rect">
            <a:avLst/>
          </a:prstGeom>
        </p:spPr>
      </p:pic>
      <p:pic>
        <p:nvPicPr>
          <p:cNvPr id="176271493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3646373" y="1850790"/>
            <a:ext cx="863361" cy="752654"/>
          </a:xfrm>
          <a:prstGeom prst="rect">
            <a:avLst/>
          </a:prstGeom>
        </p:spPr>
      </p:pic>
      <p:sp>
        <p:nvSpPr>
          <p:cNvPr id="1770212257" name="Title 1"/>
          <p:cNvSpPr>
            <a:spLocks noGrp="1"/>
          </p:cNvSpPr>
          <p:nvPr/>
        </p:nvSpPr>
        <p:spPr bwMode="auto">
          <a:xfrm flipH="0" flipV="0">
            <a:off x="4596768" y="1677200"/>
            <a:ext cx="1161468" cy="92624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i="1"/>
              <a:t>.....</a:t>
            </a:r>
            <a:endParaRPr/>
          </a:p>
        </p:txBody>
      </p:sp>
      <p:pic>
        <p:nvPicPr>
          <p:cNvPr id="2142705026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5582375" y="1850790"/>
            <a:ext cx="863361" cy="752654"/>
          </a:xfrm>
          <a:prstGeom prst="rect">
            <a:avLst/>
          </a:prstGeom>
        </p:spPr>
      </p:pic>
      <p:sp>
        <p:nvSpPr>
          <p:cNvPr id="829588703" name="Title 1"/>
          <p:cNvSpPr>
            <a:spLocks noGrp="1"/>
          </p:cNvSpPr>
          <p:nvPr/>
        </p:nvSpPr>
        <p:spPr bwMode="auto">
          <a:xfrm flipH="0" flipV="0">
            <a:off x="7007691" y="2855840"/>
            <a:ext cx="742576" cy="92624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i="1"/>
              <a:t>=</a:t>
            </a:r>
            <a:endParaRPr/>
          </a:p>
        </p:txBody>
      </p:sp>
      <p:sp>
        <p:nvSpPr>
          <p:cNvPr id="1758671190" name="Title 1"/>
          <p:cNvSpPr>
            <a:spLocks noGrp="1"/>
          </p:cNvSpPr>
          <p:nvPr/>
        </p:nvSpPr>
        <p:spPr bwMode="auto">
          <a:xfrm flipH="0" flipV="0">
            <a:off x="8153399" y="1394329"/>
            <a:ext cx="2742963" cy="406934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i="1"/>
              <a:t>Machine learning algorithm</a:t>
            </a:r>
            <a:endParaRPr/>
          </a:p>
        </p:txBody>
      </p:sp>
      <p:pic>
        <p:nvPicPr>
          <p:cNvPr id="460597495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403233" y="2942634"/>
            <a:ext cx="863361" cy="752654"/>
          </a:xfrm>
          <a:prstGeom prst="rect">
            <a:avLst/>
          </a:prstGeom>
        </p:spPr>
      </p:pic>
      <p:pic>
        <p:nvPicPr>
          <p:cNvPr id="1118597193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1523605" y="2942634"/>
            <a:ext cx="863361" cy="752654"/>
          </a:xfrm>
          <a:prstGeom prst="rect">
            <a:avLst/>
          </a:prstGeom>
        </p:spPr>
      </p:pic>
      <p:pic>
        <p:nvPicPr>
          <p:cNvPr id="844211299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2591368" y="2942634"/>
            <a:ext cx="863361" cy="752654"/>
          </a:xfrm>
          <a:prstGeom prst="rect">
            <a:avLst/>
          </a:prstGeom>
        </p:spPr>
      </p:pic>
      <p:pic>
        <p:nvPicPr>
          <p:cNvPr id="1019283667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3646372" y="2942634"/>
            <a:ext cx="863361" cy="752654"/>
          </a:xfrm>
          <a:prstGeom prst="rect">
            <a:avLst/>
          </a:prstGeom>
        </p:spPr>
      </p:pic>
      <p:sp>
        <p:nvSpPr>
          <p:cNvPr id="928576429" name="Title 1"/>
          <p:cNvSpPr>
            <a:spLocks noGrp="1"/>
          </p:cNvSpPr>
          <p:nvPr/>
        </p:nvSpPr>
        <p:spPr bwMode="auto">
          <a:xfrm flipH="0" flipV="0">
            <a:off x="4596768" y="2769044"/>
            <a:ext cx="1161468" cy="92624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i="1"/>
              <a:t>.....</a:t>
            </a:r>
            <a:endParaRPr/>
          </a:p>
        </p:txBody>
      </p:sp>
      <p:pic>
        <p:nvPicPr>
          <p:cNvPr id="1823387078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5582374" y="2942634"/>
            <a:ext cx="863361" cy="752654"/>
          </a:xfrm>
          <a:prstGeom prst="rect">
            <a:avLst/>
          </a:prstGeom>
        </p:spPr>
      </p:pic>
      <p:pic>
        <p:nvPicPr>
          <p:cNvPr id="1569068874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403233" y="4150985"/>
            <a:ext cx="863361" cy="752654"/>
          </a:xfrm>
          <a:prstGeom prst="rect">
            <a:avLst/>
          </a:prstGeom>
        </p:spPr>
      </p:pic>
      <p:pic>
        <p:nvPicPr>
          <p:cNvPr id="816951649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1523605" y="4150985"/>
            <a:ext cx="863361" cy="752654"/>
          </a:xfrm>
          <a:prstGeom prst="rect">
            <a:avLst/>
          </a:prstGeom>
        </p:spPr>
      </p:pic>
      <p:pic>
        <p:nvPicPr>
          <p:cNvPr id="910383313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2591368" y="4150985"/>
            <a:ext cx="863361" cy="752654"/>
          </a:xfrm>
          <a:prstGeom prst="rect">
            <a:avLst/>
          </a:prstGeom>
        </p:spPr>
      </p:pic>
      <p:pic>
        <p:nvPicPr>
          <p:cNvPr id="1771869836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3646372" y="4150985"/>
            <a:ext cx="863361" cy="752654"/>
          </a:xfrm>
          <a:prstGeom prst="rect">
            <a:avLst/>
          </a:prstGeom>
        </p:spPr>
      </p:pic>
      <p:sp>
        <p:nvSpPr>
          <p:cNvPr id="1059586055" name="Title 1"/>
          <p:cNvSpPr>
            <a:spLocks noGrp="1"/>
          </p:cNvSpPr>
          <p:nvPr/>
        </p:nvSpPr>
        <p:spPr bwMode="auto">
          <a:xfrm flipH="0" flipV="0">
            <a:off x="4596768" y="3977394"/>
            <a:ext cx="1161468" cy="92624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i="1"/>
              <a:t>.....</a:t>
            </a:r>
            <a:endParaRPr/>
          </a:p>
        </p:txBody>
      </p:sp>
      <p:pic>
        <p:nvPicPr>
          <p:cNvPr id="1324386015" name=""/>
          <p:cNvPicPr>
            <a:picLocks noChangeAspect="1"/>
          </p:cNvPicPr>
          <p:nvPr/>
        </p:nvPicPr>
        <p:blipFill rotWithShape="1">
          <a:blip r:embed="rId3"/>
          <a:srcRect l="4503" t="0" r="19043" b="0"/>
          <a:stretch/>
        </p:blipFill>
        <p:spPr bwMode="auto">
          <a:xfrm flipH="0" flipV="0">
            <a:off x="5582374" y="4150985"/>
            <a:ext cx="863361" cy="752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410997" name="Title 1"/>
          <p:cNvSpPr>
            <a:spLocks noGrp="1"/>
          </p:cNvSpPr>
          <p:nvPr>
            <p:ph type="title"/>
          </p:nvPr>
        </p:nvSpPr>
        <p:spPr bwMode="auto">
          <a:xfrm>
            <a:off x="560797" y="190666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What is Sup</a:t>
            </a:r>
            <a:r>
              <a:rPr/>
              <a:t>ervised Learning?</a:t>
            </a:r>
            <a:endParaRPr/>
          </a:p>
        </p:txBody>
      </p:sp>
      <p:sp>
        <p:nvSpPr>
          <p:cNvPr id="7364923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5712116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4BA28C-F3BC-AC97-0EC4-65E687A40DDB}" type="slidenum">
              <a:rPr lang="en-US"/>
              <a:t/>
            </a:fld>
            <a:endParaRPr lang="en-US"/>
          </a:p>
        </p:txBody>
      </p:sp>
      <p:sp>
        <p:nvSpPr>
          <p:cNvPr id="1484344971" name=""/>
          <p:cNvSpPr/>
          <p:nvPr/>
        </p:nvSpPr>
        <p:spPr bwMode="auto">
          <a:xfrm flipH="0" flipV="0">
            <a:off x="560797" y="1385494"/>
            <a:ext cx="11207054" cy="10976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Machine learning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(</a:t>
            </a:r>
            <a:r>
              <a:rPr sz="2200" b="1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ML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 is a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Field of study"/>
              </a:rPr>
              <a:t>field of study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in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Artificial intelligence"/>
              </a:rPr>
              <a:t>artificial intelligence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concerned with the development and study of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Computational statistics"/>
              </a:rPr>
              <a:t>statistical algorithms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that can learn from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6" tooltip="Data"/>
              </a:rPr>
              <a:t>data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and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7" tooltip="Generalise"/>
              </a:rPr>
              <a:t>generalise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to unseen data, and thus perform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8" tooltip="Task (computing)"/>
              </a:rPr>
              <a:t>tasks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without explicit </a:t>
            </a:r>
            <a:r>
              <a:rPr sz="2200" u="sng">
                <a:solidFill>
                  <a:schemeClr val="tx1"/>
                </a:solidFill>
                <a:latin typeface="Arial"/>
                <a:ea typeface="Arial"/>
                <a:cs typeface="Arial"/>
                <a:hlinkClick r:id="rId9" tooltip="https://en.wikipedia.org/wiki/Machine_code"/>
              </a:rPr>
              <a:t>instructions</a:t>
            </a:r>
            <a:r>
              <a:rPr sz="220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2200" u="none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391717140" name=""/>
          <p:cNvPicPr>
            <a:picLocks noChangeAspect="1"/>
          </p:cNvPicPr>
          <p:nvPr/>
        </p:nvPicPr>
        <p:blipFill rotWithShape="1">
          <a:blip r:embed="rId10"/>
          <a:srcRect l="45132" t="0" r="0" b="40913"/>
          <a:stretch/>
        </p:blipFill>
        <p:spPr bwMode="auto">
          <a:xfrm flipH="0" flipV="0">
            <a:off x="4091102" y="2658876"/>
            <a:ext cx="4719046" cy="3635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273627" name="Title 1"/>
          <p:cNvSpPr>
            <a:spLocks noGrp="1"/>
          </p:cNvSpPr>
          <p:nvPr>
            <p:ph type="title"/>
          </p:nvPr>
        </p:nvSpPr>
        <p:spPr bwMode="auto">
          <a:xfrm>
            <a:off x="560797" y="190666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More formally!</a:t>
            </a:r>
            <a:endParaRPr/>
          </a:p>
        </p:txBody>
      </p:sp>
      <p:sp>
        <p:nvSpPr>
          <p:cNvPr id="1863141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9760557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566645-7869-6A2C-D277-655BDC783C44}" type="slidenum">
              <a:rPr lang="en-US"/>
              <a:t/>
            </a:fld>
            <a:endParaRPr lang="en-US"/>
          </a:p>
        </p:txBody>
      </p:sp>
      <p:pic>
        <p:nvPicPr>
          <p:cNvPr id="21077839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49705" y="915386"/>
            <a:ext cx="3019194" cy="4567251"/>
          </a:xfrm>
          <a:prstGeom prst="rect">
            <a:avLst/>
          </a:prstGeom>
        </p:spPr>
      </p:pic>
      <p:pic>
        <p:nvPicPr>
          <p:cNvPr id="107977264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82867" y="1578167"/>
            <a:ext cx="8498749" cy="3117813"/>
          </a:xfrm>
          <a:prstGeom prst="rect">
            <a:avLst/>
          </a:prstGeom>
        </p:spPr>
      </p:pic>
      <p:sp>
        <p:nvSpPr>
          <p:cNvPr id="389005000" name="Title 1"/>
          <p:cNvSpPr>
            <a:spLocks noGrp="1"/>
          </p:cNvSpPr>
          <p:nvPr/>
        </p:nvSpPr>
        <p:spPr bwMode="auto">
          <a:xfrm flipH="0">
            <a:off x="838199" y="2358804"/>
            <a:ext cx="10515600" cy="1325562"/>
          </a:xfrm>
          <a:prstGeom prst="rect">
            <a:avLst/>
          </a:prstGeom>
          <a:solidFill>
            <a:srgbClr val="FFC000"/>
          </a:solidFill>
          <a:ln w="12699">
            <a:solidFill>
              <a:schemeClr val="accent1">
                <a:lumMod val="50196"/>
                <a:alpha val="99999"/>
              </a:schemeClr>
            </a:solidFill>
            <a:prstDash val="solid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>
                <a:solidFill>
                  <a:srgbClr val="C00000"/>
                </a:solidFill>
              </a:rPr>
              <a:t>HOLD ON TO THIS A BIT!</a:t>
            </a:r>
            <a:endParaRPr>
              <a:solidFill>
                <a:srgbClr val="C00000"/>
              </a:solidFill>
            </a:endParaRPr>
          </a:p>
          <a:p>
            <a:pPr algn="ctr">
              <a:defRPr/>
            </a:pPr>
            <a:r>
              <a:rPr>
                <a:solidFill>
                  <a:srgbClr val="C00000"/>
                </a:solidFill>
              </a:rPr>
              <a:t>We shall understand this soon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00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8900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5784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807182"/>
          </a:xfrm>
        </p:spPr>
        <p:txBody>
          <a:bodyPr/>
          <a:lstStyle/>
          <a:p>
            <a:pPr>
              <a:defRPr/>
            </a:pPr>
            <a:r>
              <a:rPr/>
              <a:t>An open question</a:t>
            </a:r>
            <a:endParaRPr/>
          </a:p>
        </p:txBody>
      </p:sp>
      <p:sp>
        <p:nvSpPr>
          <p:cNvPr id="14291673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331677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B7D94B-FBC3-D582-4E8A-9BAC9C2D6393}" type="slidenum">
              <a:rPr lang="en-US"/>
              <a:t/>
            </a:fld>
            <a:endParaRPr lang="en-US"/>
          </a:p>
        </p:txBody>
      </p:sp>
      <p:pic>
        <p:nvPicPr>
          <p:cNvPr id="1450436066" name=""/>
          <p:cNvPicPr>
            <a:picLocks noChangeAspect="1"/>
          </p:cNvPicPr>
          <p:nvPr/>
        </p:nvPicPr>
        <p:blipFill rotWithShape="1">
          <a:blip r:embed="rId3"/>
          <a:srcRect l="18654" t="0" r="20036" b="0"/>
          <a:stretch/>
        </p:blipFill>
        <p:spPr bwMode="auto">
          <a:xfrm flipH="0" flipV="0">
            <a:off x="838199" y="1355786"/>
            <a:ext cx="3645144" cy="3344373"/>
          </a:xfrm>
          <a:prstGeom prst="rect">
            <a:avLst/>
          </a:prstGeom>
        </p:spPr>
      </p:pic>
      <p:pic>
        <p:nvPicPr>
          <p:cNvPr id="37080913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920403" y="1483701"/>
            <a:ext cx="3344373" cy="3344373"/>
          </a:xfrm>
          <a:prstGeom prst="rect">
            <a:avLst/>
          </a:prstGeom>
        </p:spPr>
      </p:pic>
      <p:sp>
        <p:nvSpPr>
          <p:cNvPr id="1294821466" name="Title 1"/>
          <p:cNvSpPr>
            <a:spLocks noGrp="1"/>
          </p:cNvSpPr>
          <p:nvPr/>
        </p:nvSpPr>
        <p:spPr bwMode="auto">
          <a:xfrm>
            <a:off x="1143000" y="4772024"/>
            <a:ext cx="10515600" cy="1325562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How do babies learn about Apples?</a:t>
            </a:r>
            <a:endParaRPr/>
          </a:p>
        </p:txBody>
      </p:sp>
      <p:sp>
        <p:nvSpPr>
          <p:cNvPr id="1858606564" name="Title 1"/>
          <p:cNvSpPr>
            <a:spLocks noGrp="1"/>
          </p:cNvSpPr>
          <p:nvPr/>
        </p:nvSpPr>
        <p:spPr bwMode="auto">
          <a:xfrm flipH="0" flipV="0">
            <a:off x="3674570" y="1172307"/>
            <a:ext cx="342025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HANGRY?!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43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5043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60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860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0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080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82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9482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94858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80718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features!</a:t>
            </a:r>
            <a:endParaRPr sz="4400"/>
          </a:p>
        </p:txBody>
      </p:sp>
      <p:sp>
        <p:nvSpPr>
          <p:cNvPr id="4976757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2834258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1A531BC-E8DD-9C7F-88F5-546D074BE5C3}" type="slidenum">
              <a:rPr lang="en-US"/>
              <a:t/>
            </a:fld>
            <a:endParaRPr lang="en-US"/>
          </a:p>
        </p:txBody>
      </p:sp>
      <p:pic>
        <p:nvPicPr>
          <p:cNvPr id="118780958" name=""/>
          <p:cNvPicPr>
            <a:picLocks noChangeAspect="1"/>
          </p:cNvPicPr>
          <p:nvPr/>
        </p:nvPicPr>
        <p:blipFill rotWithShape="1">
          <a:blip r:embed="rId3"/>
          <a:srcRect l="18654" t="0" r="20036" b="0"/>
          <a:stretch/>
        </p:blipFill>
        <p:spPr bwMode="auto">
          <a:xfrm flipH="0" flipV="0">
            <a:off x="838199" y="1355786"/>
            <a:ext cx="3645144" cy="3344373"/>
          </a:xfrm>
          <a:prstGeom prst="rect">
            <a:avLst/>
          </a:prstGeom>
        </p:spPr>
      </p:pic>
      <p:pic>
        <p:nvPicPr>
          <p:cNvPr id="81980280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920403" y="1483701"/>
            <a:ext cx="3344373" cy="3344373"/>
          </a:xfrm>
          <a:prstGeom prst="rect">
            <a:avLst/>
          </a:prstGeom>
        </p:spPr>
      </p:pic>
      <p:sp>
        <p:nvSpPr>
          <p:cNvPr id="729343206" name="Title 1"/>
          <p:cNvSpPr>
            <a:spLocks noGrp="1"/>
          </p:cNvSpPr>
          <p:nvPr/>
        </p:nvSpPr>
        <p:spPr bwMode="auto">
          <a:xfrm>
            <a:off x="1143000" y="4772024"/>
            <a:ext cx="10515600" cy="1325562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Taste...? Shape...? Color...? Stem...?</a:t>
            </a:r>
            <a:endParaRPr/>
          </a:p>
        </p:txBody>
      </p:sp>
      <p:sp>
        <p:nvSpPr>
          <p:cNvPr id="1337012453" name="Title 1"/>
          <p:cNvSpPr>
            <a:spLocks noGrp="1"/>
          </p:cNvSpPr>
          <p:nvPr/>
        </p:nvSpPr>
        <p:spPr bwMode="auto">
          <a:xfrm flipH="0" flipV="0">
            <a:off x="3674570" y="1172307"/>
            <a:ext cx="342025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HANGRY?!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34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2934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7393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80718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happens when it’s a Green Apple?</a:t>
            </a:r>
            <a:endParaRPr sz="4400"/>
          </a:p>
        </p:txBody>
      </p:sp>
      <p:sp>
        <p:nvSpPr>
          <p:cNvPr id="572776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7126323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B55143-EF8D-258B-C17F-E36ADB76740E}" type="slidenum">
              <a:rPr lang="en-US"/>
              <a:t/>
            </a:fld>
            <a:endParaRPr lang="en-US"/>
          </a:p>
        </p:txBody>
      </p:sp>
      <p:pic>
        <p:nvPicPr>
          <p:cNvPr id="269312434" name=""/>
          <p:cNvPicPr>
            <a:picLocks noChangeAspect="1"/>
          </p:cNvPicPr>
          <p:nvPr/>
        </p:nvPicPr>
        <p:blipFill rotWithShape="1">
          <a:blip r:embed="rId3"/>
          <a:srcRect l="18654" t="0" r="20036" b="0"/>
          <a:stretch/>
        </p:blipFill>
        <p:spPr bwMode="auto">
          <a:xfrm flipH="0" flipV="0">
            <a:off x="838199" y="1355786"/>
            <a:ext cx="3645144" cy="3344373"/>
          </a:xfrm>
          <a:prstGeom prst="rect">
            <a:avLst/>
          </a:prstGeom>
        </p:spPr>
      </p:pic>
      <p:sp>
        <p:nvSpPr>
          <p:cNvPr id="905059279" name="Title 1"/>
          <p:cNvSpPr>
            <a:spLocks noGrp="1"/>
          </p:cNvSpPr>
          <p:nvPr/>
        </p:nvSpPr>
        <p:spPr bwMode="auto">
          <a:xfrm flipH="0" flipV="0">
            <a:off x="1143000" y="5119687"/>
            <a:ext cx="10515600" cy="11335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Does the baby’s mental model of an Apple fail entirely here?</a:t>
            </a:r>
            <a:endParaRPr sz="4400"/>
          </a:p>
        </p:txBody>
      </p:sp>
      <p:sp>
        <p:nvSpPr>
          <p:cNvPr id="24479018" name="Title 1"/>
          <p:cNvSpPr>
            <a:spLocks noGrp="1"/>
          </p:cNvSpPr>
          <p:nvPr/>
        </p:nvSpPr>
        <p:spPr bwMode="auto">
          <a:xfrm flipH="0" flipV="0">
            <a:off x="3674570" y="1172307"/>
            <a:ext cx="342025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HANGRY?!</a:t>
            </a:r>
            <a:endParaRPr/>
          </a:p>
        </p:txBody>
      </p:sp>
      <p:pic>
        <p:nvPicPr>
          <p:cNvPr id="7291143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153399" y="1282781"/>
            <a:ext cx="3781954" cy="3781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911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05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0505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91616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80718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Or Perhaps?</a:t>
            </a:r>
            <a:endParaRPr sz="4400"/>
          </a:p>
        </p:txBody>
      </p:sp>
      <p:sp>
        <p:nvSpPr>
          <p:cNvPr id="18775970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3087337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1A60A8-38B4-F9EB-FDAA-E8867E9A0D4B}" type="slidenum">
              <a:rPr lang="en-US"/>
              <a:t/>
            </a:fld>
            <a:endParaRPr lang="en-US"/>
          </a:p>
        </p:txBody>
      </p:sp>
      <p:pic>
        <p:nvPicPr>
          <p:cNvPr id="491908483" name=""/>
          <p:cNvPicPr>
            <a:picLocks noChangeAspect="1"/>
          </p:cNvPicPr>
          <p:nvPr/>
        </p:nvPicPr>
        <p:blipFill rotWithShape="1">
          <a:blip r:embed="rId3"/>
          <a:srcRect l="18654" t="0" r="20036" b="0"/>
          <a:stretch/>
        </p:blipFill>
        <p:spPr bwMode="auto">
          <a:xfrm flipH="0" flipV="0">
            <a:off x="5375030" y="216144"/>
            <a:ext cx="2455317" cy="2252723"/>
          </a:xfrm>
          <a:prstGeom prst="rect">
            <a:avLst/>
          </a:prstGeom>
        </p:spPr>
      </p:pic>
      <p:sp>
        <p:nvSpPr>
          <p:cNvPr id="1841472340" name="Title 1"/>
          <p:cNvSpPr>
            <a:spLocks noGrp="1"/>
          </p:cNvSpPr>
          <p:nvPr/>
        </p:nvSpPr>
        <p:spPr bwMode="auto">
          <a:xfrm flipH="0" flipV="0">
            <a:off x="838199" y="5345454"/>
            <a:ext cx="4453874" cy="11335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Is this an Apple?</a:t>
            </a:r>
            <a:endParaRPr sz="4400"/>
          </a:p>
        </p:txBody>
      </p:sp>
      <p:sp>
        <p:nvSpPr>
          <p:cNvPr id="2007371214" name="Title 1"/>
          <p:cNvSpPr>
            <a:spLocks noGrp="1"/>
          </p:cNvSpPr>
          <p:nvPr/>
        </p:nvSpPr>
        <p:spPr bwMode="auto">
          <a:xfrm flipH="0" flipV="0">
            <a:off x="7347190" y="105934"/>
            <a:ext cx="342025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IM STILL</a:t>
            </a:r>
            <a:endParaRPr/>
          </a:p>
          <a:p>
            <a:pPr>
              <a:defRPr/>
            </a:pPr>
            <a:r>
              <a:rPr/>
              <a:t>HANGRY?!</a:t>
            </a:r>
            <a:r>
              <a:rPr/>
              <a:t>!!</a:t>
            </a:r>
            <a:endParaRPr/>
          </a:p>
        </p:txBody>
      </p:sp>
      <p:pic>
        <p:nvPicPr>
          <p:cNvPr id="23208425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83248" y="1726490"/>
            <a:ext cx="4424567" cy="3832909"/>
          </a:xfrm>
          <a:prstGeom prst="rect">
            <a:avLst/>
          </a:prstGeom>
        </p:spPr>
      </p:pic>
      <p:pic>
        <p:nvPicPr>
          <p:cNvPr id="46962400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977682" y="1726490"/>
            <a:ext cx="3516036" cy="3633237"/>
          </a:xfrm>
          <a:prstGeom prst="rect">
            <a:avLst/>
          </a:prstGeom>
        </p:spPr>
      </p:pic>
      <p:sp>
        <p:nvSpPr>
          <p:cNvPr id="454375580" name="Title 1"/>
          <p:cNvSpPr>
            <a:spLocks noGrp="1"/>
          </p:cNvSpPr>
          <p:nvPr/>
        </p:nvSpPr>
        <p:spPr bwMode="auto">
          <a:xfrm flipH="0" flipV="0">
            <a:off x="7347190" y="5245618"/>
            <a:ext cx="4453873" cy="113359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about this?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8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208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47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147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62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962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37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5437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8719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How do we ingrain this concept? </a:t>
            </a:r>
            <a:br>
              <a:rPr/>
            </a:br>
            <a:r>
              <a:rPr sz="3600" i="1"/>
              <a:t>collect the data</a:t>
            </a:r>
            <a:endParaRPr/>
          </a:p>
        </p:txBody>
      </p:sp>
      <p:sp>
        <p:nvSpPr>
          <p:cNvPr id="11079135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7117800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E46A7D-6DAB-46A9-EB1A-18E17136240F}" type="slidenum">
              <a:rPr lang="en-US"/>
              <a:t/>
            </a:fld>
            <a:endParaRPr lang="en-US"/>
          </a:p>
        </p:txBody>
      </p:sp>
      <p:graphicFrame>
        <p:nvGraphicFramePr>
          <p:cNvPr id="2059642578" name=""/>
          <p:cNvGraphicFramePr>
            <a:graphicFrameLocks xmlns:a="http://schemas.openxmlformats.org/drawingml/2006/main"/>
          </p:cNvGraphicFramePr>
          <p:nvPr/>
        </p:nvGraphicFramePr>
        <p:xfrm>
          <a:off x="920749" y="1606176"/>
          <a:ext cx="6223955" cy="45846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242250"/>
                <a:gridCol w="1242250"/>
                <a:gridCol w="1242250"/>
                <a:gridCol w="1242250"/>
                <a:gridCol w="1242250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Image in question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Taste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Shape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Color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Has a Stem?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 Apple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Green Apple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Green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 Ball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PLASTIC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Perfect Sphere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Tomato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You Decide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???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Cherries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Apricot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Yellowish 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8136155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95882" y="1606176"/>
            <a:ext cx="4631764" cy="46317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59323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Our Data</a:t>
            </a:r>
            <a:r>
              <a:rPr/>
              <a:t> for ML</a:t>
            </a:r>
            <a:endParaRPr/>
          </a:p>
        </p:txBody>
      </p:sp>
      <p:sp>
        <p:nvSpPr>
          <p:cNvPr id="6558484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6381027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B6BC783-E9E2-7AC4-D41A-8985FC898C68}" type="slidenum">
              <a:rPr lang="en-US"/>
              <a:t/>
            </a:fld>
            <a:endParaRPr lang="en-US"/>
          </a:p>
        </p:txBody>
      </p:sp>
      <p:graphicFrame>
        <p:nvGraphicFramePr>
          <p:cNvPr id="691238940" name=""/>
          <p:cNvGraphicFramePr>
            <a:graphicFrameLocks xmlns:a="http://schemas.openxmlformats.org/drawingml/2006/main"/>
          </p:cNvGraphicFramePr>
          <p:nvPr/>
        </p:nvGraphicFramePr>
        <p:xfrm>
          <a:off x="3758243" y="1640914"/>
          <a:ext cx="6223955" cy="45846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242250"/>
                <a:gridCol w="1242250"/>
                <a:gridCol w="1242250"/>
                <a:gridCol w="1242250"/>
                <a:gridCol w="1242250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Image in question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Taste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Shape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Color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Has a Stem?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 Apple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Green Apple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Green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 Ball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PLASTIC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Perfect Sphere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Tomato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You Decide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???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Cherries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Apricot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Yellowish 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42751311" name="Line 1242751311"/>
          <p:cNvCxnSpPr/>
          <p:nvPr/>
        </p:nvCxnSpPr>
        <p:spPr bwMode="auto">
          <a:xfrm rot="0" flipH="1" flipV="1">
            <a:off x="3615643" y="2287867"/>
            <a:ext cx="0" cy="3937746"/>
          </a:xfrm>
          <a:prstGeom prst="line">
            <a:avLst/>
          </a:prstGeom>
          <a:ln w="63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headEnd type="triangle"/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853658" name="Title 1"/>
          <p:cNvSpPr>
            <a:spLocks noGrp="1"/>
          </p:cNvSpPr>
          <p:nvPr/>
        </p:nvSpPr>
        <p:spPr bwMode="auto">
          <a:xfrm rot="16199969" flipH="0" flipV="0">
            <a:off x="1718519" y="3613249"/>
            <a:ext cx="2939313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EXAMPLES</a:t>
            </a:r>
            <a:endParaRPr/>
          </a:p>
        </p:txBody>
      </p:sp>
      <p:cxnSp>
        <p:nvCxnSpPr>
          <p:cNvPr id="537903881" name="Line 1242751311"/>
          <p:cNvCxnSpPr/>
          <p:nvPr/>
        </p:nvCxnSpPr>
        <p:spPr bwMode="auto">
          <a:xfrm rot="5399978" flipH="1" flipV="1">
            <a:off x="7502195" y="-1004398"/>
            <a:ext cx="0" cy="4981344"/>
          </a:xfrm>
          <a:prstGeom prst="line">
            <a:avLst/>
          </a:prstGeom>
          <a:ln w="63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headEnd type="triangle"/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4869381" name="Title 1"/>
          <p:cNvSpPr>
            <a:spLocks noGrp="1"/>
          </p:cNvSpPr>
          <p:nvPr/>
        </p:nvSpPr>
        <p:spPr bwMode="auto">
          <a:xfrm rot="0" flipH="0" flipV="0">
            <a:off x="6032538" y="605304"/>
            <a:ext cx="2939313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FEATURES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651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Well, what is this similar to? :)</a:t>
            </a:r>
            <a:endParaRPr/>
          </a:p>
        </p:txBody>
      </p:sp>
      <p:sp>
        <p:nvSpPr>
          <p:cNvPr id="4040511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1044199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4D9CEE8-8A25-694F-0614-593406DE56AB}" type="slidenum">
              <a:rPr lang="en-US"/>
              <a:t/>
            </a:fld>
            <a:endParaRPr lang="en-US"/>
          </a:p>
        </p:txBody>
      </p:sp>
      <p:graphicFrame>
        <p:nvGraphicFramePr>
          <p:cNvPr id="1668638626" name=""/>
          <p:cNvGraphicFramePr>
            <a:graphicFrameLocks xmlns:a="http://schemas.openxmlformats.org/drawingml/2006/main"/>
          </p:cNvGraphicFramePr>
          <p:nvPr/>
        </p:nvGraphicFramePr>
        <p:xfrm>
          <a:off x="612587" y="1653240"/>
          <a:ext cx="6223955" cy="45846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242250"/>
                <a:gridCol w="1242250"/>
                <a:gridCol w="1242250"/>
                <a:gridCol w="1242250"/>
                <a:gridCol w="1242250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Image in question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Taste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Shape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Color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Has a Stem?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 Apple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Green Apple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Green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 Ball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PLASTIC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Perfect Sphere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Tomato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You Decide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???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Cherries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Yes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Apricot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Sweet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Round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Yellowish Red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No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...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71414374" name="Title 1"/>
          <p:cNvSpPr>
            <a:spLocks noGrp="1"/>
          </p:cNvSpPr>
          <p:nvPr/>
        </p:nvSpPr>
        <p:spPr bwMode="auto">
          <a:xfrm flipH="0" flipV="0">
            <a:off x="7125819" y="3160244"/>
            <a:ext cx="952709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=</a:t>
            </a:r>
            <a:r>
              <a:rPr/>
              <a:t>=</a:t>
            </a:r>
            <a:endParaRPr/>
          </a:p>
        </p:txBody>
      </p:sp>
      <p:pic>
        <p:nvPicPr>
          <p:cNvPr id="1808028829" name=""/>
          <p:cNvPicPr>
            <a:picLocks noChangeAspect="1"/>
          </p:cNvPicPr>
          <p:nvPr/>
        </p:nvPicPr>
        <p:blipFill rotWithShape="1">
          <a:blip r:embed="rId3"/>
          <a:srcRect l="9153" t="10589" r="4442" b="9928"/>
          <a:stretch/>
        </p:blipFill>
        <p:spPr bwMode="auto">
          <a:xfrm flipH="0" flipV="0">
            <a:off x="8227521" y="2975908"/>
            <a:ext cx="3735713" cy="3436470"/>
          </a:xfrm>
          <a:prstGeom prst="rect">
            <a:avLst/>
          </a:prstGeom>
        </p:spPr>
      </p:pic>
      <p:pic>
        <p:nvPicPr>
          <p:cNvPr id="72111943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610599" y="635911"/>
            <a:ext cx="2895808" cy="2895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6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5940" y="299757"/>
            <a:ext cx="9198264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The algorithms</a:t>
            </a:r>
            <a:br>
              <a:rPr/>
            </a:br>
            <a:r>
              <a:rPr sz="2800" i="1"/>
              <a:t>we will cover only 3, don’t want to scare you.</a:t>
            </a:r>
            <a:endParaRPr/>
          </a:p>
        </p:txBody>
      </p:sp>
      <p:sp>
        <p:nvSpPr>
          <p:cNvPr id="16784521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4531376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B99849-C89B-C6E1-643D-ECE5A92BD593}" type="slidenum">
              <a:rPr lang="en-US"/>
              <a:t/>
            </a:fld>
            <a:endParaRPr lang="en-US"/>
          </a:p>
        </p:txBody>
      </p:sp>
      <p:pic>
        <p:nvPicPr>
          <p:cNvPr id="4316504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5940" y="1747848"/>
            <a:ext cx="5544132" cy="3167301"/>
          </a:xfrm>
          <a:prstGeom prst="rect">
            <a:avLst/>
          </a:prstGeom>
        </p:spPr>
      </p:pic>
      <p:sp>
        <p:nvSpPr>
          <p:cNvPr id="2109752322" name="Title 1"/>
          <p:cNvSpPr>
            <a:spLocks noGrp="1"/>
          </p:cNvSpPr>
          <p:nvPr/>
        </p:nvSpPr>
        <p:spPr bwMode="auto">
          <a:xfrm flipH="0" flipV="0">
            <a:off x="757143" y="4841127"/>
            <a:ext cx="4949474" cy="90188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K Nearest Neighbors</a:t>
            </a:r>
            <a:endParaRPr/>
          </a:p>
        </p:txBody>
      </p:sp>
      <p:pic>
        <p:nvPicPr>
          <p:cNvPr id="5177105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338030" y="1249799"/>
            <a:ext cx="4765546" cy="2631783"/>
          </a:xfrm>
          <a:prstGeom prst="rect">
            <a:avLst/>
          </a:prstGeom>
        </p:spPr>
      </p:pic>
      <p:sp>
        <p:nvSpPr>
          <p:cNvPr id="725779804" name="Title 1"/>
          <p:cNvSpPr>
            <a:spLocks noGrp="1"/>
          </p:cNvSpPr>
          <p:nvPr/>
        </p:nvSpPr>
        <p:spPr bwMode="auto">
          <a:xfrm flipH="0" flipV="0">
            <a:off x="7878100" y="610907"/>
            <a:ext cx="4949473" cy="90188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Decision Trees</a:t>
            </a:r>
            <a:endParaRPr/>
          </a:p>
        </p:txBody>
      </p:sp>
      <p:pic>
        <p:nvPicPr>
          <p:cNvPr id="481104105" name=""/>
          <p:cNvPicPr>
            <a:picLocks noChangeAspect="1"/>
          </p:cNvPicPr>
          <p:nvPr/>
        </p:nvPicPr>
        <p:blipFill rotWithShape="1">
          <a:blip r:embed="rId5"/>
          <a:srcRect l="0" t="7940" r="0" b="0"/>
          <a:stretch/>
        </p:blipFill>
        <p:spPr bwMode="auto">
          <a:xfrm flipH="0" flipV="0">
            <a:off x="7697372" y="4511664"/>
            <a:ext cx="2814214" cy="2116428"/>
          </a:xfrm>
          <a:prstGeom prst="rect">
            <a:avLst/>
          </a:prstGeom>
        </p:spPr>
      </p:pic>
      <p:sp>
        <p:nvSpPr>
          <p:cNvPr id="1490933172" name="Title 1"/>
          <p:cNvSpPr>
            <a:spLocks noGrp="1"/>
          </p:cNvSpPr>
          <p:nvPr/>
        </p:nvSpPr>
        <p:spPr bwMode="auto">
          <a:xfrm flipH="0" flipV="0">
            <a:off x="7442191" y="3939240"/>
            <a:ext cx="4949473" cy="90188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Neural Networks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4283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K Nearest Neighbors (KNN) Algorithm</a:t>
            </a:r>
            <a:br>
              <a:rPr/>
            </a:br>
            <a:r>
              <a:rPr sz="2800" i="1"/>
              <a:t>the algorithm</a:t>
            </a:r>
            <a:endParaRPr/>
          </a:p>
        </p:txBody>
      </p:sp>
      <p:sp>
        <p:nvSpPr>
          <p:cNvPr id="775563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814334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B1C677-E068-13AE-8926-E7CADBEB7491}" type="slidenum">
              <a:rPr lang="en-US"/>
              <a:t/>
            </a:fld>
            <a:endParaRPr lang="en-US"/>
          </a:p>
        </p:txBody>
      </p:sp>
      <p:pic>
        <p:nvPicPr>
          <p:cNvPr id="14962022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44705" y="1653240"/>
            <a:ext cx="2895807" cy="2895807"/>
          </a:xfrm>
          <a:prstGeom prst="rect">
            <a:avLst/>
          </a:prstGeom>
        </p:spPr>
      </p:pic>
      <p:pic>
        <p:nvPicPr>
          <p:cNvPr id="339418216" name=""/>
          <p:cNvPicPr>
            <a:picLocks noChangeAspect="1"/>
          </p:cNvPicPr>
          <p:nvPr/>
        </p:nvPicPr>
        <p:blipFill rotWithShape="1">
          <a:blip r:embed="rId4"/>
          <a:srcRect l="17175" t="23632" r="17727" b="15208"/>
          <a:stretch/>
        </p:blipFill>
        <p:spPr bwMode="auto">
          <a:xfrm flipH="0" flipV="0">
            <a:off x="1199932" y="1755961"/>
            <a:ext cx="5259047" cy="3703415"/>
          </a:xfrm>
          <a:prstGeom prst="rect">
            <a:avLst/>
          </a:prstGeom>
        </p:spPr>
      </p:pic>
      <p:sp>
        <p:nvSpPr>
          <p:cNvPr id="1664754666" name="Title 1"/>
          <p:cNvSpPr>
            <a:spLocks noGrp="1"/>
          </p:cNvSpPr>
          <p:nvPr/>
        </p:nvSpPr>
        <p:spPr bwMode="auto">
          <a:xfrm flipH="0" flipV="0">
            <a:off x="6778056" y="4687794"/>
            <a:ext cx="4923012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60000" lnSpcReduction="8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? = red, round, sweet.... I wonder what it is.. aaaaaaaaa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5587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K Nearest Neighbors (KNN) Algorithm</a:t>
            </a:r>
            <a:br>
              <a:rPr/>
            </a:br>
            <a:r>
              <a:rPr sz="2800" i="1"/>
              <a:t>shortcomings...</a:t>
            </a:r>
            <a:endParaRPr/>
          </a:p>
        </p:txBody>
      </p:sp>
      <p:sp>
        <p:nvSpPr>
          <p:cNvPr id="7969930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334475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C6F21BD-0BDD-15BF-B014-8C6740255A4B}" type="slidenum">
              <a:rPr lang="en-US"/>
              <a:t/>
            </a:fld>
            <a:endParaRPr lang="en-US"/>
          </a:p>
        </p:txBody>
      </p:sp>
      <p:pic>
        <p:nvPicPr>
          <p:cNvPr id="454984426" name=""/>
          <p:cNvPicPr>
            <a:picLocks noChangeAspect="1"/>
          </p:cNvPicPr>
          <p:nvPr/>
        </p:nvPicPr>
        <p:blipFill rotWithShape="1">
          <a:blip r:embed="rId3"/>
          <a:srcRect l="17175" t="23632" r="17727" b="15208"/>
          <a:stretch/>
        </p:blipFill>
        <p:spPr bwMode="auto">
          <a:xfrm flipH="0" flipV="0">
            <a:off x="975815" y="1457138"/>
            <a:ext cx="5259047" cy="3703415"/>
          </a:xfrm>
          <a:prstGeom prst="rect">
            <a:avLst/>
          </a:prstGeom>
        </p:spPr>
      </p:pic>
      <p:sp>
        <p:nvSpPr>
          <p:cNvPr id="549914991" name="Title 1"/>
          <p:cNvSpPr>
            <a:spLocks noGrp="1"/>
          </p:cNvSpPr>
          <p:nvPr/>
        </p:nvSpPr>
        <p:spPr bwMode="auto">
          <a:xfrm flipH="0" flipV="0">
            <a:off x="6768718" y="4417918"/>
            <a:ext cx="5241207" cy="115700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65000" lnSpcReduction="7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I ONLY KNOW RED BALLS! THIS “?” IS RED BALL MOM!</a:t>
            </a:r>
            <a:endParaRPr/>
          </a:p>
        </p:txBody>
      </p:sp>
      <p:sp>
        <p:nvSpPr>
          <p:cNvPr id="1075237666" name="Title 1"/>
          <p:cNvSpPr>
            <a:spLocks noGrp="1"/>
          </p:cNvSpPr>
          <p:nvPr/>
        </p:nvSpPr>
        <p:spPr bwMode="auto">
          <a:xfrm flipH="0" flipV="0">
            <a:off x="953776" y="5397930"/>
            <a:ext cx="7656823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b="1"/>
              <a:t>Bias</a:t>
            </a:r>
            <a:r>
              <a:rPr/>
              <a:t>: </a:t>
            </a:r>
            <a:r>
              <a:rPr sz="3600"/>
              <a:t>Data dependence</a:t>
            </a:r>
            <a:endParaRPr/>
          </a:p>
        </p:txBody>
      </p:sp>
      <p:pic>
        <p:nvPicPr>
          <p:cNvPr id="11863408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15411" y="1213970"/>
            <a:ext cx="4956933" cy="326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34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8634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991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7523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2343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7706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Decision Tree Algorithm</a:t>
            </a:r>
            <a:br>
              <a:rPr/>
            </a:br>
            <a:r>
              <a:rPr sz="2800" i="1"/>
              <a:t>the algorithm</a:t>
            </a:r>
            <a:endParaRPr/>
          </a:p>
        </p:txBody>
      </p:sp>
      <p:sp>
        <p:nvSpPr>
          <p:cNvPr id="17579771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9403525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89CDE7-3FD3-87B7-B7BA-4691FF3BC23B}" type="slidenum">
              <a:rPr lang="en-US"/>
              <a:t/>
            </a:fld>
            <a:endParaRPr lang="en-US"/>
          </a:p>
        </p:txBody>
      </p:sp>
      <p:pic>
        <p:nvPicPr>
          <p:cNvPr id="15113077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04999" y="1082286"/>
            <a:ext cx="2895807" cy="2895807"/>
          </a:xfrm>
          <a:prstGeom prst="rect">
            <a:avLst/>
          </a:prstGeom>
        </p:spPr>
      </p:pic>
      <p:sp>
        <p:nvSpPr>
          <p:cNvPr id="1214262294" name="Title 1"/>
          <p:cNvSpPr>
            <a:spLocks noGrp="1"/>
          </p:cNvSpPr>
          <p:nvPr/>
        </p:nvSpPr>
        <p:spPr bwMode="auto">
          <a:xfrm flipH="0" flipV="0">
            <a:off x="7469085" y="4018303"/>
            <a:ext cx="4587531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65000" lnSpcReduction="7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Does it fit into my different mental models at hand?</a:t>
            </a:r>
            <a:endParaRPr/>
          </a:p>
        </p:txBody>
      </p:sp>
      <p:sp>
        <p:nvSpPr>
          <p:cNvPr id="1125650010" name=""/>
          <p:cNvSpPr/>
          <p:nvPr/>
        </p:nvSpPr>
        <p:spPr bwMode="auto">
          <a:xfrm rot="0" flipH="0" flipV="0">
            <a:off x="2484926" y="1410073"/>
            <a:ext cx="2446617" cy="10458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Is it red?</a:t>
            </a:r>
            <a:endParaRPr/>
          </a:p>
        </p:txBody>
      </p:sp>
      <p:sp>
        <p:nvSpPr>
          <p:cNvPr id="1227993184" name=""/>
          <p:cNvSpPr/>
          <p:nvPr/>
        </p:nvSpPr>
        <p:spPr bwMode="auto">
          <a:xfrm rot="0" flipH="0" flipV="0">
            <a:off x="838199" y="2906058"/>
            <a:ext cx="2446616" cy="10458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Is it round?</a:t>
            </a:r>
            <a:endParaRPr/>
          </a:p>
        </p:txBody>
      </p:sp>
      <p:sp>
        <p:nvSpPr>
          <p:cNvPr id="34313929" name=""/>
          <p:cNvSpPr/>
          <p:nvPr/>
        </p:nvSpPr>
        <p:spPr bwMode="auto">
          <a:xfrm rot="0" flipH="0" flipV="0">
            <a:off x="4203162" y="2713250"/>
            <a:ext cx="2446616" cy="10458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Is it green?</a:t>
            </a:r>
            <a:endParaRPr/>
          </a:p>
        </p:txBody>
      </p:sp>
      <p:sp>
        <p:nvSpPr>
          <p:cNvPr id="2073116253" name="Title 1"/>
          <p:cNvSpPr>
            <a:spLocks noGrp="1"/>
          </p:cNvSpPr>
          <p:nvPr/>
        </p:nvSpPr>
        <p:spPr bwMode="auto">
          <a:xfrm flipH="0" flipV="0">
            <a:off x="210188" y="5397930"/>
            <a:ext cx="6439590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b="1"/>
              <a:t>Bias</a:t>
            </a:r>
            <a:r>
              <a:rPr/>
              <a:t>: </a:t>
            </a:r>
            <a:r>
              <a:rPr sz="3600"/>
              <a:t>Excels in dataset with many categories</a:t>
            </a:r>
            <a:endParaRPr/>
          </a:p>
        </p:txBody>
      </p:sp>
      <p:cxnSp>
        <p:nvCxnSpPr>
          <p:cNvPr id="291494148" name=""/>
          <p:cNvCxnSpPr>
            <a:stCxn id="1125650010" idx="3"/>
            <a:endCxn id="1227993184" idx="0"/>
          </p:cNvCxnSpPr>
          <p:nvPr/>
        </p:nvCxnSpPr>
        <p:spPr bwMode="auto">
          <a:xfrm rot="5399978" flipH="0" flipV="0">
            <a:off x="2150732" y="2213565"/>
            <a:ext cx="603268" cy="781716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429399" name=""/>
          <p:cNvCxnSpPr>
            <a:stCxn id="1125650010" idx="5"/>
            <a:endCxn id="34313929" idx="0"/>
          </p:cNvCxnSpPr>
          <p:nvPr/>
        </p:nvCxnSpPr>
        <p:spPr bwMode="auto">
          <a:xfrm rot="5399978" flipH="0" flipV="1">
            <a:off x="4794627" y="2081406"/>
            <a:ext cx="410460" cy="853225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9524705" name=""/>
          <p:cNvSpPr txBox="1"/>
          <p:nvPr/>
        </p:nvSpPr>
        <p:spPr bwMode="auto">
          <a:xfrm rot="0" flipH="0" flipV="0">
            <a:off x="1613562" y="2421544"/>
            <a:ext cx="1314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Yes</a:t>
            </a:r>
            <a:endParaRPr/>
          </a:p>
        </p:txBody>
      </p:sp>
      <p:sp>
        <p:nvSpPr>
          <p:cNvPr id="366998995" name=""/>
          <p:cNvSpPr txBox="1"/>
          <p:nvPr/>
        </p:nvSpPr>
        <p:spPr bwMode="auto">
          <a:xfrm rot="0" flipH="0" flipV="0">
            <a:off x="4987573" y="2347130"/>
            <a:ext cx="13158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No</a:t>
            </a:r>
            <a:endParaRPr/>
          </a:p>
        </p:txBody>
      </p:sp>
      <p:cxnSp>
        <p:nvCxnSpPr>
          <p:cNvPr id="979832760" name=""/>
          <p:cNvCxnSpPr>
            <a:stCxn id="1227993184" idx="3"/>
          </p:cNvCxnSpPr>
          <p:nvPr/>
        </p:nvCxnSpPr>
        <p:spPr bwMode="auto">
          <a:xfrm rot="5399978" flipH="0" flipV="0">
            <a:off x="462379" y="3906983"/>
            <a:ext cx="842327" cy="62591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2451808" name=""/>
          <p:cNvSpPr txBox="1"/>
          <p:nvPr/>
        </p:nvSpPr>
        <p:spPr bwMode="auto">
          <a:xfrm rot="0" flipH="0" flipV="0">
            <a:off x="298415" y="3951940"/>
            <a:ext cx="13151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Yes</a:t>
            </a:r>
            <a:endParaRPr/>
          </a:p>
        </p:txBody>
      </p:sp>
      <p:sp>
        <p:nvSpPr>
          <p:cNvPr id="994576239" name=""/>
          <p:cNvSpPr txBox="1"/>
          <p:nvPr/>
        </p:nvSpPr>
        <p:spPr bwMode="auto">
          <a:xfrm rot="0" flipH="0" flipV="0">
            <a:off x="298415" y="4687794"/>
            <a:ext cx="13176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APPLE!</a:t>
            </a:r>
            <a:endParaRPr/>
          </a:p>
        </p:txBody>
      </p:sp>
      <p:cxnSp>
        <p:nvCxnSpPr>
          <p:cNvPr id="768713385" name=""/>
          <p:cNvCxnSpPr>
            <a:stCxn id="1227993184" idx="5"/>
            <a:endCxn id="1472069063" idx="0"/>
          </p:cNvCxnSpPr>
          <p:nvPr/>
        </p:nvCxnSpPr>
        <p:spPr bwMode="auto">
          <a:xfrm rot="5399978" flipH="0" flipV="1">
            <a:off x="2681182" y="4044110"/>
            <a:ext cx="750273" cy="259602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412664" name=""/>
          <p:cNvSpPr txBox="1"/>
          <p:nvPr/>
        </p:nvSpPr>
        <p:spPr bwMode="auto">
          <a:xfrm rot="0" flipH="0" flipV="0">
            <a:off x="3056319" y="3905249"/>
            <a:ext cx="131658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No</a:t>
            </a:r>
            <a:endParaRPr/>
          </a:p>
        </p:txBody>
      </p:sp>
      <p:pic>
        <p:nvPicPr>
          <p:cNvPr id="14720690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664005" y="4549048"/>
            <a:ext cx="1044229" cy="783172"/>
          </a:xfrm>
          <a:prstGeom prst="rect">
            <a:avLst/>
          </a:prstGeom>
        </p:spPr>
      </p:pic>
      <p:cxnSp>
        <p:nvCxnSpPr>
          <p:cNvPr id="672769785" name=""/>
          <p:cNvCxnSpPr/>
          <p:nvPr/>
        </p:nvCxnSpPr>
        <p:spPr bwMode="auto">
          <a:xfrm rot="5399978" flipH="0" flipV="0">
            <a:off x="4094953" y="3793704"/>
            <a:ext cx="842326" cy="625909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095623" name=""/>
          <p:cNvSpPr txBox="1"/>
          <p:nvPr/>
        </p:nvSpPr>
        <p:spPr bwMode="auto">
          <a:xfrm rot="0" flipH="0" flipV="0">
            <a:off x="3930989" y="3838661"/>
            <a:ext cx="131550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Yes</a:t>
            </a:r>
            <a:endParaRPr/>
          </a:p>
        </p:txBody>
      </p:sp>
      <p:sp>
        <p:nvSpPr>
          <p:cNvPr id="922603584" name=""/>
          <p:cNvSpPr txBox="1"/>
          <p:nvPr/>
        </p:nvSpPr>
        <p:spPr bwMode="auto">
          <a:xfrm rot="0" flipH="0" flipV="0">
            <a:off x="3930989" y="4574515"/>
            <a:ext cx="131802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APPLE!</a:t>
            </a:r>
            <a:endParaRPr/>
          </a:p>
        </p:txBody>
      </p:sp>
      <p:cxnSp>
        <p:nvCxnSpPr>
          <p:cNvPr id="734098727" name=""/>
          <p:cNvCxnSpPr/>
          <p:nvPr/>
        </p:nvCxnSpPr>
        <p:spPr bwMode="auto">
          <a:xfrm rot="5399978" flipH="0" flipV="1">
            <a:off x="5546108" y="3977523"/>
            <a:ext cx="750273" cy="259601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1011223" name=""/>
          <p:cNvSpPr txBox="1"/>
          <p:nvPr/>
        </p:nvSpPr>
        <p:spPr bwMode="auto">
          <a:xfrm rot="0" flipH="0" flipV="0">
            <a:off x="5921245" y="3838661"/>
            <a:ext cx="131694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No</a:t>
            </a:r>
            <a:endParaRPr/>
          </a:p>
        </p:txBody>
      </p:sp>
      <p:pic>
        <p:nvPicPr>
          <p:cNvPr id="2708311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528931" y="4482461"/>
            <a:ext cx="1044228" cy="783171"/>
          </a:xfrm>
          <a:prstGeom prst="rect">
            <a:avLst/>
          </a:prstGeom>
        </p:spPr>
      </p:pic>
      <p:sp>
        <p:nvSpPr>
          <p:cNvPr id="601536340" name=""/>
          <p:cNvSpPr txBox="1"/>
          <p:nvPr/>
        </p:nvSpPr>
        <p:spPr bwMode="auto">
          <a:xfrm rot="0" flipH="0" flipV="0">
            <a:off x="5915046" y="1836515"/>
            <a:ext cx="131910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Others..</a:t>
            </a:r>
            <a:endParaRPr/>
          </a:p>
        </p:txBody>
      </p:sp>
      <p:cxnSp>
        <p:nvCxnSpPr>
          <p:cNvPr id="2002773441" name=""/>
          <p:cNvCxnSpPr>
            <a:stCxn id="1125650010" idx="6"/>
            <a:endCxn id="601536340" idx="1"/>
          </p:cNvCxnSpPr>
          <p:nvPr/>
        </p:nvCxnSpPr>
        <p:spPr bwMode="auto">
          <a:xfrm rot="0" flipH="0" flipV="0">
            <a:off x="4931543" y="1933014"/>
            <a:ext cx="983502" cy="8656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7035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7706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Neural networks!</a:t>
            </a:r>
            <a:br>
              <a:rPr/>
            </a:br>
            <a:r>
              <a:rPr sz="2800" i="1"/>
              <a:t>the algorithm</a:t>
            </a:r>
            <a:endParaRPr/>
          </a:p>
        </p:txBody>
      </p:sp>
      <p:sp>
        <p:nvSpPr>
          <p:cNvPr id="8582352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4048730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D9993C1-4344-7526-FA00-36E531A7968C}" type="slidenum">
              <a:rPr lang="en-US"/>
              <a:t/>
            </a:fld>
            <a:endParaRPr lang="en-US"/>
          </a:p>
        </p:txBody>
      </p:sp>
      <p:pic>
        <p:nvPicPr>
          <p:cNvPr id="5543056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04999" y="983751"/>
            <a:ext cx="2895807" cy="2895807"/>
          </a:xfrm>
          <a:prstGeom prst="rect">
            <a:avLst/>
          </a:prstGeom>
        </p:spPr>
      </p:pic>
      <p:sp>
        <p:nvSpPr>
          <p:cNvPr id="1468415668" name="Title 1"/>
          <p:cNvSpPr>
            <a:spLocks noGrp="1"/>
          </p:cNvSpPr>
          <p:nvPr/>
        </p:nvSpPr>
        <p:spPr bwMode="auto">
          <a:xfrm flipH="0" flipV="0">
            <a:off x="7469085" y="4018303"/>
            <a:ext cx="4587531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55000" lnSpcReduction="9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Umm I know Apples are round</a:t>
            </a:r>
            <a:r>
              <a:rPr/>
              <a:t> and have sweet taste so I give more weightage to that!</a:t>
            </a:r>
            <a:endParaRPr/>
          </a:p>
        </p:txBody>
      </p:sp>
      <p:sp>
        <p:nvSpPr>
          <p:cNvPr id="1560647964" name="Title 1"/>
          <p:cNvSpPr>
            <a:spLocks noGrp="1"/>
          </p:cNvSpPr>
          <p:nvPr/>
        </p:nvSpPr>
        <p:spPr bwMode="auto">
          <a:xfrm flipH="0" flipV="0">
            <a:off x="210188" y="5397930"/>
            <a:ext cx="6869149" cy="103560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75000" lnSpcReduction="5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b="1"/>
              <a:t>Bias</a:t>
            </a:r>
            <a:r>
              <a:rPr/>
              <a:t>: </a:t>
            </a:r>
            <a:r>
              <a:rPr sz="3600"/>
              <a:t>Extremely flexible can lead to over dependence on some features over others!</a:t>
            </a:r>
            <a:endParaRPr/>
          </a:p>
        </p:txBody>
      </p:sp>
      <p:sp>
        <p:nvSpPr>
          <p:cNvPr id="960738214" name=""/>
          <p:cNvSpPr/>
          <p:nvPr/>
        </p:nvSpPr>
        <p:spPr bwMode="auto">
          <a:xfrm rot="0" flipH="0" flipV="0">
            <a:off x="2615661" y="2859367"/>
            <a:ext cx="1176617" cy="11392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06138257" name=""/>
          <p:cNvCxnSpPr/>
          <p:nvPr/>
        </p:nvCxnSpPr>
        <p:spPr bwMode="auto">
          <a:xfrm flipH="1" flipV="1">
            <a:off x="944117" y="1830294"/>
            <a:ext cx="1970367" cy="1083234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568046" name=""/>
          <p:cNvCxnSpPr/>
          <p:nvPr/>
        </p:nvCxnSpPr>
        <p:spPr bwMode="auto">
          <a:xfrm flipH="1" flipV="1">
            <a:off x="570588" y="2773455"/>
            <a:ext cx="2101102" cy="354852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226348" name=""/>
          <p:cNvCxnSpPr>
            <a:stCxn id="960738214" idx="2"/>
          </p:cNvCxnSpPr>
          <p:nvPr/>
        </p:nvCxnSpPr>
        <p:spPr bwMode="auto">
          <a:xfrm rot="10799990" flipH="0" flipV="1">
            <a:off x="626617" y="3428999"/>
            <a:ext cx="1989043" cy="334308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4322304" name=""/>
          <p:cNvCxnSpPr/>
          <p:nvPr/>
        </p:nvCxnSpPr>
        <p:spPr bwMode="auto">
          <a:xfrm flipH="1" flipV="0">
            <a:off x="897426" y="3809999"/>
            <a:ext cx="1820955" cy="999191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8278242" name=""/>
          <p:cNvSpPr txBox="1"/>
          <p:nvPr/>
        </p:nvSpPr>
        <p:spPr bwMode="auto">
          <a:xfrm rot="0" flipH="0" flipV="0">
            <a:off x="1929301" y="1940783"/>
            <a:ext cx="972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taste</a:t>
            </a:r>
            <a:endParaRPr/>
          </a:p>
        </p:txBody>
      </p:sp>
      <p:sp>
        <p:nvSpPr>
          <p:cNvPr id="1545663150" name=""/>
          <p:cNvSpPr txBox="1"/>
          <p:nvPr/>
        </p:nvSpPr>
        <p:spPr bwMode="auto">
          <a:xfrm rot="0" flipH="0" flipV="0">
            <a:off x="834737" y="2459303"/>
            <a:ext cx="9749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shape</a:t>
            </a:r>
            <a:endParaRPr/>
          </a:p>
        </p:txBody>
      </p:sp>
      <p:sp>
        <p:nvSpPr>
          <p:cNvPr id="195362731" name=""/>
          <p:cNvSpPr txBox="1"/>
          <p:nvPr/>
        </p:nvSpPr>
        <p:spPr bwMode="auto">
          <a:xfrm rot="0" flipH="0" flipV="0">
            <a:off x="832577" y="3245940"/>
            <a:ext cx="97712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color</a:t>
            </a:r>
            <a:endParaRPr/>
          </a:p>
        </p:txBody>
      </p:sp>
      <p:sp>
        <p:nvSpPr>
          <p:cNvPr id="1321815896" name=""/>
          <p:cNvSpPr txBox="1"/>
          <p:nvPr/>
        </p:nvSpPr>
        <p:spPr bwMode="auto">
          <a:xfrm rot="0" flipH="0" flipV="0">
            <a:off x="984976" y="4018303"/>
            <a:ext cx="114581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has stem</a:t>
            </a:r>
            <a:endParaRPr/>
          </a:p>
        </p:txBody>
      </p:sp>
      <p:cxnSp>
        <p:nvCxnSpPr>
          <p:cNvPr id="1460309030" name=""/>
          <p:cNvCxnSpPr>
            <a:stCxn id="960738214" idx="6"/>
          </p:cNvCxnSpPr>
          <p:nvPr/>
        </p:nvCxnSpPr>
        <p:spPr bwMode="auto">
          <a:xfrm rot="0" flipH="0" flipV="1">
            <a:off x="3792279" y="3423396"/>
            <a:ext cx="1466102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9519496" name=""/>
          <p:cNvSpPr txBox="1"/>
          <p:nvPr/>
        </p:nvSpPr>
        <p:spPr bwMode="auto">
          <a:xfrm rot="0" flipH="0" flipV="0">
            <a:off x="4769458" y="2773455"/>
            <a:ext cx="97784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apple or not?</a:t>
            </a:r>
            <a:endParaRPr/>
          </a:p>
        </p:txBody>
      </p:sp>
      <p:sp>
        <p:nvSpPr>
          <p:cNvPr id="1043154779" name=""/>
          <p:cNvSpPr txBox="1"/>
          <p:nvPr/>
        </p:nvSpPr>
        <p:spPr bwMode="auto">
          <a:xfrm rot="0" flipH="0" flipV="0">
            <a:off x="498393" y="1523551"/>
            <a:ext cx="97352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a</a:t>
            </a:r>
            <a:endParaRPr/>
          </a:p>
        </p:txBody>
      </p:sp>
      <p:sp>
        <p:nvSpPr>
          <p:cNvPr id="274024884" name=""/>
          <p:cNvSpPr txBox="1"/>
          <p:nvPr/>
        </p:nvSpPr>
        <p:spPr bwMode="auto">
          <a:xfrm rot="0" flipH="0" flipV="0">
            <a:off x="387706" y="2306903"/>
            <a:ext cx="9760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b</a:t>
            </a:r>
            <a:endParaRPr/>
          </a:p>
        </p:txBody>
      </p:sp>
      <p:sp>
        <p:nvSpPr>
          <p:cNvPr id="410619287" name=""/>
          <p:cNvSpPr txBox="1"/>
          <p:nvPr/>
        </p:nvSpPr>
        <p:spPr bwMode="auto">
          <a:xfrm rot="0" flipH="0" flipV="0">
            <a:off x="269298" y="3337097"/>
            <a:ext cx="9767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c</a:t>
            </a:r>
            <a:endParaRPr/>
          </a:p>
        </p:txBody>
      </p:sp>
      <p:sp>
        <p:nvSpPr>
          <p:cNvPr id="545144878" name=""/>
          <p:cNvSpPr txBox="1"/>
          <p:nvPr/>
        </p:nvSpPr>
        <p:spPr bwMode="auto">
          <a:xfrm rot="0" flipH="0" flipV="0">
            <a:off x="408862" y="4443071"/>
            <a:ext cx="9774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d</a:t>
            </a:r>
            <a:endParaRPr/>
          </a:p>
        </p:txBody>
      </p:sp>
      <p:sp>
        <p:nvSpPr>
          <p:cNvPr id="946839211" name=""/>
          <p:cNvSpPr txBox="1"/>
          <p:nvPr/>
        </p:nvSpPr>
        <p:spPr bwMode="auto">
          <a:xfrm rot="0" flipH="0" flipV="0">
            <a:off x="1816687" y="4536109"/>
            <a:ext cx="444598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a*taste + b*shape + c*color + d*has_stem = apple or not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20777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7706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Data-algorithm interplay</a:t>
            </a:r>
            <a:br>
              <a:rPr/>
            </a:br>
            <a:r>
              <a:rPr sz="2800" i="1"/>
              <a:t>the algorithm</a:t>
            </a:r>
            <a:endParaRPr/>
          </a:p>
        </p:txBody>
      </p:sp>
      <p:sp>
        <p:nvSpPr>
          <p:cNvPr id="13628144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5688313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DF5990D-08E5-0E30-90C7-77AC868BE4FE}" type="slidenum">
              <a:rPr lang="en-US"/>
              <a:t/>
            </a:fld>
            <a:endParaRPr lang="en-US"/>
          </a:p>
        </p:txBody>
      </p:sp>
      <p:pic>
        <p:nvPicPr>
          <p:cNvPr id="17829806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534295" y="1335367"/>
            <a:ext cx="2895807" cy="2895807"/>
          </a:xfrm>
          <a:prstGeom prst="rect">
            <a:avLst/>
          </a:prstGeom>
        </p:spPr>
      </p:pic>
      <p:pic>
        <p:nvPicPr>
          <p:cNvPr id="2262471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72461" y="1455681"/>
            <a:ext cx="1821079" cy="1881781"/>
          </a:xfrm>
          <a:prstGeom prst="rect">
            <a:avLst/>
          </a:prstGeom>
        </p:spPr>
      </p:pic>
      <p:sp>
        <p:nvSpPr>
          <p:cNvPr id="1368139768" name=""/>
          <p:cNvSpPr txBox="1"/>
          <p:nvPr/>
        </p:nvSpPr>
        <p:spPr bwMode="auto">
          <a:xfrm rot="0" flipH="0" flipV="0">
            <a:off x="2782838" y="1455681"/>
            <a:ext cx="4392215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 i="0"/>
              <a:t>Garbage in, garbage out</a:t>
            </a:r>
            <a:endParaRPr b="1" i="0"/>
          </a:p>
          <a:p>
            <a:pPr algn="l">
              <a:defRPr/>
            </a:pPr>
            <a:r>
              <a:rPr i="1"/>
              <a:t>If you teach a baby concept of Apple using Tomatoes, it will misrepresent the concept. DATA IS KING!</a:t>
            </a:r>
            <a:endParaRPr i="1"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 i="1"/>
              <a:t>So, better features, better perf!</a:t>
            </a:r>
            <a:endParaRPr/>
          </a:p>
        </p:txBody>
      </p:sp>
      <p:sp>
        <p:nvSpPr>
          <p:cNvPr id="1168025243" name=""/>
          <p:cNvSpPr txBox="1"/>
          <p:nvPr/>
        </p:nvSpPr>
        <p:spPr bwMode="auto">
          <a:xfrm rot="0" flipH="0" flipV="0">
            <a:off x="2838868" y="4090249"/>
            <a:ext cx="4438654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 i="0"/>
              <a:t>Choose right algorithm for data</a:t>
            </a:r>
            <a:endParaRPr b="1" i="0"/>
          </a:p>
          <a:p>
            <a:pPr algn="l">
              <a:defRPr/>
            </a:pPr>
            <a:r>
              <a:rPr i="1"/>
              <a:t>Choosing right algorithm for data is important!</a:t>
            </a:r>
            <a:r>
              <a:rPr/>
              <a:t> </a:t>
            </a:r>
            <a:r>
              <a:rPr i="1"/>
              <a:t>What the baby learns depends on how it is taught the concept. Based on categories? Based on weighting? Based on looking at neighbors?</a:t>
            </a:r>
            <a:endParaRPr/>
          </a:p>
        </p:txBody>
      </p:sp>
      <p:pic>
        <p:nvPicPr>
          <p:cNvPr id="1043970829" name=""/>
          <p:cNvPicPr>
            <a:picLocks noChangeAspect="1"/>
          </p:cNvPicPr>
          <p:nvPr/>
        </p:nvPicPr>
        <p:blipFill rotWithShape="1">
          <a:blip r:embed="rId5"/>
          <a:srcRect l="0" t="0" r="36983" b="5946"/>
          <a:stretch/>
        </p:blipFill>
        <p:spPr bwMode="auto">
          <a:xfrm flipH="0" flipV="0">
            <a:off x="421634" y="3779457"/>
            <a:ext cx="2122731" cy="2359302"/>
          </a:xfrm>
          <a:prstGeom prst="rect">
            <a:avLst/>
          </a:prstGeom>
        </p:spPr>
      </p:pic>
      <p:sp>
        <p:nvSpPr>
          <p:cNvPr id="595945254" name=""/>
          <p:cNvSpPr txBox="1"/>
          <p:nvPr/>
        </p:nvSpPr>
        <p:spPr bwMode="auto">
          <a:xfrm rot="0" flipH="0" flipV="0">
            <a:off x="8373923" y="4283115"/>
            <a:ext cx="347079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/>
              <a:t>TEACH ME WELL!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98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8298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9594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8212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2866" y="190665"/>
            <a:ext cx="10515600" cy="11260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Remember me?</a:t>
            </a:r>
            <a:br>
              <a:rPr/>
            </a:br>
            <a:r>
              <a:rPr sz="2600" i="1"/>
              <a:t>Math is just English, don’t worry</a:t>
            </a:r>
            <a:endParaRPr/>
          </a:p>
        </p:txBody>
      </p:sp>
      <p:sp>
        <p:nvSpPr>
          <p:cNvPr id="19256173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0562186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07D7048-143A-049E-B317-AC6B00B779BC}" type="slidenum">
              <a:rPr lang="en-US"/>
              <a:t/>
            </a:fld>
            <a:endParaRPr lang="en-US"/>
          </a:p>
        </p:txBody>
      </p:sp>
      <p:pic>
        <p:nvPicPr>
          <p:cNvPr id="16583295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49704" y="915385"/>
            <a:ext cx="3019194" cy="4567251"/>
          </a:xfrm>
          <a:prstGeom prst="rect">
            <a:avLst/>
          </a:prstGeom>
        </p:spPr>
      </p:pic>
      <p:pic>
        <p:nvPicPr>
          <p:cNvPr id="878547927" name=""/>
          <p:cNvPicPr>
            <a:picLocks noChangeAspect="1"/>
          </p:cNvPicPr>
          <p:nvPr/>
        </p:nvPicPr>
        <p:blipFill rotWithShape="1">
          <a:blip r:embed="rId4"/>
          <a:srcRect l="0" t="0" r="0" b="21827"/>
          <a:stretch/>
        </p:blipFill>
        <p:spPr bwMode="auto">
          <a:xfrm flipH="0" flipV="0">
            <a:off x="382866" y="1783608"/>
            <a:ext cx="8498748" cy="2437274"/>
          </a:xfrm>
          <a:prstGeom prst="rect">
            <a:avLst/>
          </a:prstGeom>
        </p:spPr>
      </p:pic>
      <p:sp>
        <p:nvSpPr>
          <p:cNvPr id="195241195" name=""/>
          <p:cNvSpPr txBox="1"/>
          <p:nvPr/>
        </p:nvSpPr>
        <p:spPr bwMode="auto">
          <a:xfrm rot="0" flipH="0" flipV="0">
            <a:off x="7098014" y="732325"/>
            <a:ext cx="115680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2009708913" name=""/>
          <p:cNvSpPr/>
          <p:nvPr/>
        </p:nvSpPr>
        <p:spPr bwMode="auto">
          <a:xfrm rot="0" flipH="0" flipV="0">
            <a:off x="7882426" y="1736911"/>
            <a:ext cx="233455" cy="33617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243843" name=""/>
          <p:cNvSpPr txBox="1"/>
          <p:nvPr/>
        </p:nvSpPr>
        <p:spPr bwMode="auto">
          <a:xfrm rot="0" flipH="0" flipV="0">
            <a:off x="7353755" y="1316691"/>
            <a:ext cx="18028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 u="sng"/>
              <a:t>the concept</a:t>
            </a:r>
            <a:endParaRPr b="1" u="sng"/>
          </a:p>
        </p:txBody>
      </p:sp>
      <p:sp>
        <p:nvSpPr>
          <p:cNvPr id="597571448" name=""/>
          <p:cNvSpPr/>
          <p:nvPr/>
        </p:nvSpPr>
        <p:spPr bwMode="auto">
          <a:xfrm rot="0" flipH="0" flipV="0">
            <a:off x="1974311" y="2073088"/>
            <a:ext cx="233454" cy="336175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3264113" name=""/>
          <p:cNvSpPr txBox="1"/>
          <p:nvPr/>
        </p:nvSpPr>
        <p:spPr bwMode="auto">
          <a:xfrm rot="0" flipH="0" flipV="0">
            <a:off x="1303283" y="1417488"/>
            <a:ext cx="451683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 u="sng"/>
              <a:t>the diff algos: NN, KNN, Decision Tree</a:t>
            </a:r>
            <a:endParaRPr/>
          </a:p>
        </p:txBody>
      </p:sp>
      <p:sp>
        <p:nvSpPr>
          <p:cNvPr id="1145392235" name=""/>
          <p:cNvSpPr/>
          <p:nvPr/>
        </p:nvSpPr>
        <p:spPr bwMode="auto">
          <a:xfrm rot="0" flipH="0" flipV="0">
            <a:off x="2126710" y="2409264"/>
            <a:ext cx="233454" cy="336175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3363782" name=""/>
          <p:cNvSpPr txBox="1"/>
          <p:nvPr/>
        </p:nvSpPr>
        <p:spPr bwMode="auto">
          <a:xfrm rot="0" flipH="0" flipV="0">
            <a:off x="2436197" y="2338457"/>
            <a:ext cx="243141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 u="sng"/>
              <a:t>apple, pear, tomato, red ball</a:t>
            </a:r>
            <a:endParaRPr i="1" u="sng"/>
          </a:p>
        </p:txBody>
      </p:sp>
      <p:sp>
        <p:nvSpPr>
          <p:cNvPr id="421336668" name=""/>
          <p:cNvSpPr/>
          <p:nvPr/>
        </p:nvSpPr>
        <p:spPr bwMode="auto">
          <a:xfrm rot="0" flipH="0" flipV="0">
            <a:off x="382866" y="2978897"/>
            <a:ext cx="5977427" cy="1092573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890387" name=""/>
          <p:cNvSpPr txBox="1"/>
          <p:nvPr/>
        </p:nvSpPr>
        <p:spPr bwMode="auto">
          <a:xfrm rot="0" flipH="0" flipV="0">
            <a:off x="382866" y="4220882"/>
            <a:ext cx="59781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finding which algorithm (h) </a:t>
            </a:r>
            <a:r>
              <a:rPr/>
              <a:t>out of H = {NN, KNN, DT} can best explain concept of apple (c(x)) for all inputs</a:t>
            </a:r>
            <a:endParaRPr/>
          </a:p>
        </p:txBody>
      </p:sp>
      <p:sp>
        <p:nvSpPr>
          <p:cNvPr id="1899314697" name=""/>
          <p:cNvSpPr/>
          <p:nvPr/>
        </p:nvSpPr>
        <p:spPr bwMode="auto">
          <a:xfrm rot="0" flipH="0" flipV="0">
            <a:off x="5756296" y="2073088"/>
            <a:ext cx="233454" cy="336175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981480" name=""/>
          <p:cNvSpPr txBox="1"/>
          <p:nvPr/>
        </p:nvSpPr>
        <p:spPr bwMode="auto">
          <a:xfrm rot="0" flipH="0" flipV="0">
            <a:off x="5989751" y="2297205"/>
            <a:ext cx="180464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i="1"/>
              <a:t>apple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70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0970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2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8124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26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326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57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757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3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993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98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398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3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539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36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8336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3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133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89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6989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72674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06374"/>
            <a:ext cx="8865182" cy="1325562"/>
          </a:xfrm>
        </p:spPr>
        <p:txBody>
          <a:bodyPr/>
          <a:lstStyle/>
          <a:p>
            <a:pPr>
              <a:defRPr/>
            </a:pPr>
            <a:r>
              <a:rPr/>
              <a:t>Other usecases of Supervised Learning</a:t>
            </a:r>
            <a:endParaRPr/>
          </a:p>
        </p:txBody>
      </p:sp>
      <p:sp>
        <p:nvSpPr>
          <p:cNvPr id="2114883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0090102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B8FE0-41BF-D1E1-C48A-123FB8DAADD6}" type="slidenum">
              <a:rPr lang="en-US"/>
              <a:t/>
            </a:fld>
            <a:endParaRPr lang="en-US"/>
          </a:p>
        </p:txBody>
      </p:sp>
      <p:pic>
        <p:nvPicPr>
          <p:cNvPr id="6042520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7205" y="2045073"/>
            <a:ext cx="5333999" cy="3962399"/>
          </a:xfrm>
          <a:prstGeom prst="rect">
            <a:avLst/>
          </a:prstGeom>
        </p:spPr>
      </p:pic>
      <p:sp>
        <p:nvSpPr>
          <p:cNvPr id="1737452252" name="">
            <a:hlinkClick r:id="rId4" tooltip=""/>
          </p:cNvPr>
          <p:cNvSpPr txBox="1"/>
          <p:nvPr/>
        </p:nvSpPr>
        <p:spPr bwMode="auto">
          <a:xfrm rot="0" flipH="0" flipV="0">
            <a:off x="6827205" y="4932262"/>
            <a:ext cx="507308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https://www.linkedin.com/posts/arduino_samuel-alexander-built-an-electronic-paddle-activity-7391276338155778048-mYGe</a:t>
            </a:r>
            <a:endParaRPr/>
          </a:p>
        </p:txBody>
      </p:sp>
      <p:sp>
        <p:nvSpPr>
          <p:cNvPr id="595639671" name="Title 1"/>
          <p:cNvSpPr>
            <a:spLocks noGrp="1"/>
          </p:cNvSpPr>
          <p:nvPr/>
        </p:nvSpPr>
        <p:spPr bwMode="auto">
          <a:xfrm flipH="0" flipV="0">
            <a:off x="6920588" y="2981037"/>
            <a:ext cx="4156052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65000" lnSpcReduction="7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Instead of Apples, we’re just classifying what the current incoming ball is!</a:t>
            </a:r>
            <a:endParaRPr/>
          </a:p>
        </p:txBody>
      </p:sp>
      <p:pic>
        <p:nvPicPr>
          <p:cNvPr id="704177553" name=""/>
          <p:cNvPicPr>
            <a:picLocks noChangeAspect="1"/>
          </p:cNvPicPr>
          <p:nvPr/>
        </p:nvPicPr>
        <p:blipFill rotWithShape="1">
          <a:blip r:embed="rId5"/>
          <a:srcRect l="0" t="0" r="36983" b="5945"/>
          <a:stretch/>
        </p:blipFill>
        <p:spPr bwMode="auto">
          <a:xfrm flipH="0" flipV="0">
            <a:off x="9648920" y="90855"/>
            <a:ext cx="2122731" cy="2359302"/>
          </a:xfrm>
          <a:prstGeom prst="rect">
            <a:avLst/>
          </a:prstGeom>
        </p:spPr>
      </p:pic>
      <p:sp>
        <p:nvSpPr>
          <p:cNvPr id="1406935562" name="Title 1"/>
          <p:cNvSpPr>
            <a:spLocks noGrp="1"/>
          </p:cNvSpPr>
          <p:nvPr/>
        </p:nvSpPr>
        <p:spPr bwMode="auto">
          <a:xfrm flipH="0" flipV="0">
            <a:off x="9648920" y="90855"/>
            <a:ext cx="2251373" cy="4414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000"/>
              <a:t>y u forget apple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4479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06374"/>
            <a:ext cx="8865182" cy="1325562"/>
          </a:xfrm>
        </p:spPr>
        <p:txBody>
          <a:bodyPr/>
          <a:lstStyle/>
          <a:p>
            <a:pPr>
              <a:defRPr/>
            </a:pPr>
            <a:r>
              <a:rPr/>
              <a:t>Other usecases of Supervised Learning</a:t>
            </a:r>
            <a:endParaRPr/>
          </a:p>
        </p:txBody>
      </p:sp>
      <p:sp>
        <p:nvSpPr>
          <p:cNvPr id="16676973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0931263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6E19C8-39FC-BADC-53A3-3C530143FE37}" type="slidenum">
              <a:rPr lang="en-US"/>
              <a:t/>
            </a:fld>
            <a:endParaRPr lang="en-US"/>
          </a:p>
        </p:txBody>
      </p:sp>
      <p:sp>
        <p:nvSpPr>
          <p:cNvPr id="740621513" name="Title 1"/>
          <p:cNvSpPr>
            <a:spLocks noGrp="1"/>
          </p:cNvSpPr>
          <p:nvPr/>
        </p:nvSpPr>
        <p:spPr bwMode="auto">
          <a:xfrm flipH="0" flipV="0">
            <a:off x="6532573" y="3184571"/>
            <a:ext cx="4156052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65000" lnSpcReduction="7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Instead of Apples, we’re just classifying if review is positive or not.</a:t>
            </a:r>
            <a:endParaRPr/>
          </a:p>
        </p:txBody>
      </p:sp>
      <p:pic>
        <p:nvPicPr>
          <p:cNvPr id="606406709" name=""/>
          <p:cNvPicPr>
            <a:picLocks noChangeAspect="1"/>
          </p:cNvPicPr>
          <p:nvPr/>
        </p:nvPicPr>
        <p:blipFill rotWithShape="1">
          <a:blip r:embed="rId3"/>
          <a:srcRect l="0" t="0" r="36983" b="5945"/>
          <a:stretch/>
        </p:blipFill>
        <p:spPr bwMode="auto">
          <a:xfrm flipH="0" flipV="0">
            <a:off x="9648920" y="90855"/>
            <a:ext cx="2122731" cy="2359302"/>
          </a:xfrm>
          <a:prstGeom prst="rect">
            <a:avLst/>
          </a:prstGeom>
        </p:spPr>
      </p:pic>
      <p:sp>
        <p:nvSpPr>
          <p:cNvPr id="1820105655" name="Title 1"/>
          <p:cNvSpPr>
            <a:spLocks noGrp="1"/>
          </p:cNvSpPr>
          <p:nvPr/>
        </p:nvSpPr>
        <p:spPr bwMode="auto">
          <a:xfrm flipH="0" flipV="0">
            <a:off x="9648920" y="90855"/>
            <a:ext cx="2251373" cy="4414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000"/>
              <a:t>y u forget apple</a:t>
            </a:r>
            <a:endParaRPr sz="2000"/>
          </a:p>
        </p:txBody>
      </p:sp>
      <p:pic>
        <p:nvPicPr>
          <p:cNvPr id="902940240" name=""/>
          <p:cNvPicPr>
            <a:picLocks noChangeAspect="1"/>
          </p:cNvPicPr>
          <p:nvPr/>
        </p:nvPicPr>
        <p:blipFill rotWithShape="1">
          <a:blip r:embed="rId4"/>
          <a:srcRect l="10280" t="34756" r="65054" b="20100"/>
          <a:stretch/>
        </p:blipFill>
        <p:spPr bwMode="auto">
          <a:xfrm flipH="0" flipV="0">
            <a:off x="1947977" y="1830294"/>
            <a:ext cx="2810808" cy="2017058"/>
          </a:xfrm>
          <a:prstGeom prst="rect">
            <a:avLst/>
          </a:prstGeom>
        </p:spPr>
      </p:pic>
      <p:pic>
        <p:nvPicPr>
          <p:cNvPr id="411680365" name=""/>
          <p:cNvPicPr>
            <a:picLocks noChangeAspect="1"/>
          </p:cNvPicPr>
          <p:nvPr/>
        </p:nvPicPr>
        <p:blipFill rotWithShape="1">
          <a:blip r:embed="rId4"/>
          <a:srcRect l="69942" t="33644" r="9430" b="21630"/>
          <a:stretch/>
        </p:blipFill>
        <p:spPr bwMode="auto">
          <a:xfrm flipH="0" flipV="0">
            <a:off x="2178100" y="4026453"/>
            <a:ext cx="2350563" cy="19983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0246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7706" y="299757"/>
            <a:ext cx="10515600" cy="10356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You’re all set to be a LLM expert!</a:t>
            </a:r>
            <a:br>
              <a:rPr/>
            </a:br>
            <a:r>
              <a:rPr sz="2800" i="1"/>
              <a:t>let me prove it to you</a:t>
            </a:r>
            <a:endParaRPr/>
          </a:p>
        </p:txBody>
      </p:sp>
      <p:sp>
        <p:nvSpPr>
          <p:cNvPr id="4064211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3079883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5E02AF3-FD8C-0FF5-BB67-F0C7342F90F0}" type="slidenum">
              <a:rPr lang="en-US"/>
              <a:t/>
            </a:fld>
            <a:endParaRPr lang="en-US"/>
          </a:p>
        </p:txBody>
      </p:sp>
      <p:sp>
        <p:nvSpPr>
          <p:cNvPr id="246601660" name=""/>
          <p:cNvSpPr txBox="1"/>
          <p:nvPr/>
        </p:nvSpPr>
        <p:spPr bwMode="auto">
          <a:xfrm rot="0" flipH="0" flipV="0">
            <a:off x="8675967" y="4557758"/>
            <a:ext cx="305453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/>
              <a:t>I LOVE APPLES</a:t>
            </a:r>
            <a:endParaRPr sz="2400"/>
          </a:p>
        </p:txBody>
      </p:sp>
      <p:pic>
        <p:nvPicPr>
          <p:cNvPr id="1468166766" name=""/>
          <p:cNvPicPr>
            <a:picLocks noChangeAspect="1"/>
          </p:cNvPicPr>
          <p:nvPr/>
        </p:nvPicPr>
        <p:blipFill rotWithShape="1">
          <a:blip r:embed="rId3"/>
          <a:srcRect l="27949" t="0" r="20906" b="0"/>
          <a:stretch/>
        </p:blipFill>
        <p:spPr bwMode="auto">
          <a:xfrm flipH="0" flipV="0">
            <a:off x="8675967" y="1475440"/>
            <a:ext cx="3002692" cy="3082316"/>
          </a:xfrm>
          <a:prstGeom prst="rect">
            <a:avLst/>
          </a:prstGeom>
        </p:spPr>
      </p:pic>
      <p:sp>
        <p:nvSpPr>
          <p:cNvPr id="1661789572" name=""/>
          <p:cNvSpPr txBox="1"/>
          <p:nvPr/>
        </p:nvSpPr>
        <p:spPr bwMode="auto">
          <a:xfrm rot="0" flipH="0" flipV="0">
            <a:off x="426613" y="1609762"/>
            <a:ext cx="7727506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4400"/>
              <a:t>You were classifying whether fruit was Apple or not... guess what LLMs are?</a:t>
            </a:r>
            <a:endParaRPr sz="4400"/>
          </a:p>
        </p:txBody>
      </p:sp>
      <p:sp>
        <p:nvSpPr>
          <p:cNvPr id="2055450929" name=""/>
          <p:cNvSpPr txBox="1"/>
          <p:nvPr/>
        </p:nvSpPr>
        <p:spPr bwMode="auto">
          <a:xfrm rot="0" flipH="0" flipV="0">
            <a:off x="532321" y="4283438"/>
            <a:ext cx="7775745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i="1"/>
              <a:t>A multiclassification task of what will be the next word given current word.. ofc it’s Apples!</a:t>
            </a:r>
            <a:endParaRPr sz="36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16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6816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0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660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78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178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5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5450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055450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1755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Thank you</a:t>
            </a:r>
            <a:br>
              <a:rPr/>
            </a:br>
            <a:r>
              <a:rPr sz="2800" i="1"/>
              <a:t>Hope you were not bored!!</a:t>
            </a:r>
            <a:endParaRPr/>
          </a:p>
        </p:txBody>
      </p:sp>
      <p:sp>
        <p:nvSpPr>
          <p:cNvPr id="10804310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Nikhil Kapila | nkapila.me</a:t>
            </a:r>
            <a:endParaRPr/>
          </a:p>
        </p:txBody>
      </p:sp>
      <p:sp>
        <p:nvSpPr>
          <p:cNvPr id="17515034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6311AFD-E6A9-5588-1741-D7CBEA48ED83}" type="slidenum">
              <a:rPr lang="en-US"/>
              <a:t/>
            </a:fld>
            <a:endParaRPr lang="en-US"/>
          </a:p>
        </p:txBody>
      </p:sp>
      <p:pic>
        <p:nvPicPr>
          <p:cNvPr id="4796083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39080" y="2353070"/>
            <a:ext cx="4524374" cy="3016249"/>
          </a:xfrm>
          <a:prstGeom prst="rect">
            <a:avLst/>
          </a:prstGeom>
        </p:spPr>
      </p:pic>
      <p:sp>
        <p:nvSpPr>
          <p:cNvPr id="844643055" name=""/>
          <p:cNvSpPr txBox="1"/>
          <p:nvPr/>
        </p:nvSpPr>
        <p:spPr bwMode="auto">
          <a:xfrm rot="0" flipH="0" flipV="0">
            <a:off x="7139080" y="5369320"/>
            <a:ext cx="452833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i="0"/>
              <a:t>Enjoy the workshop</a:t>
            </a:r>
            <a:endParaRPr sz="2800" i="0"/>
          </a:p>
        </p:txBody>
      </p:sp>
      <p:pic>
        <p:nvPicPr>
          <p:cNvPr id="9068795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39371" y="1992943"/>
            <a:ext cx="3376376" cy="3376376"/>
          </a:xfrm>
          <a:prstGeom prst="rect">
            <a:avLst/>
          </a:prstGeom>
        </p:spPr>
      </p:pic>
      <p:sp>
        <p:nvSpPr>
          <p:cNvPr id="324307220" name=""/>
          <p:cNvSpPr txBox="1"/>
          <p:nvPr/>
        </p:nvSpPr>
        <p:spPr bwMode="auto">
          <a:xfrm rot="0" flipH="0" flipV="0">
            <a:off x="7139080" y="1834550"/>
            <a:ext cx="453517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i="1"/>
              <a:t>It’s an Apple Break!</a:t>
            </a:r>
            <a:endParaRPr sz="2800"/>
          </a:p>
        </p:txBody>
      </p:sp>
      <p:sp>
        <p:nvSpPr>
          <p:cNvPr id="1107390131" name=""/>
          <p:cNvSpPr txBox="1"/>
          <p:nvPr/>
        </p:nvSpPr>
        <p:spPr bwMode="auto">
          <a:xfrm rot="0" flipH="0" flipV="0">
            <a:off x="956911" y="5369320"/>
            <a:ext cx="454129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i="1"/>
              <a:t>Get in touch</a:t>
            </a:r>
            <a:endParaRPr sz="28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ONLYOFFICE/9.1.0.172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2025-11-08T21:24:34Z</dcterms:modified>
</cp:coreProperties>
</file>